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Представляемся: команда, школа, категория РСХБ. Одна фраза о проекте: AeroFresh — датчик на ящике, который заранее говорит магазину, что товар скоро испортится, и подсказывает, как его продать. ~20 секунд.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Масштаб: по ФАО ~13% еды теряется до прилавка, по ЮНЕП ещё 19% выбрасывается в рознице, общепите и дома. Больнее всего — скоропорт. Наша ЦА — менеджеры и директора локальных сетей. Цитата из интервью показывает боль: о порче узнают слишком поздно. Честно говорим, что не подтвердилось, — жюри это ценит.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Суть решения в одном предложении: датчик на ящике + прогноз + подсказка по уценке. Четыре параметра: CO₂ и летучие вещества показывают, как «дышит» и портится продукт; температура и влажность — условия хранения. На выходе не график, а действие: сколько осталось и какую скидку дать.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Проходим схему слева направо: датчик на ящике → данные по Wi-Fi или SIM → облако → прогноз оставшихся часов → уведомление. Показываем пример сообщения: после отзыва клиента мы сразу пишем номер ящика, место и конкретное действие. Пользователь — менеджер зала, платит торговая сеть.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Считаем снизу вверх от цены за магазин: 9 900 ₽ × 12 = 118 800 ₽ в год. SOM — 50 магазинов, около 6 млн ₽ в год. SAM и TAM заполнить реальными данными с источником (Росстат, отраслевые обзоры). Тренды работают на нас, барьеры — интеграция с кассой и требования к оборудованию.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Ручной обход — субъективно и поздно. Термодатчики видят воздух, а не продукт. Перед защитой обязательно вписать 1–2 реальных конкурента (мониторинг холодовой цепи, сервисы уценки) и честно сказать, чем мы отличаемся. Ключевая мысль — газы продукта плюс готовое действие.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Модель — подписка 9 900 ₽ в месяц за магазин, 10 датчиков включены. Наши затраты около 3 000 ₽, маржа около 6 900 ₽. Для клиента: если списания падают на 30%, это ~24 000 ₽ в месяц, после подписки чистыми ~14 000 ₽. Подробный расчёт — в приложении П2.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Показываем макет: список партий с таймерами и уведомление. Говорим, скольким людям показали и что они сказали. Главное — что изменили: уведомление стало конкретным, цена пересмотрена. Практический тест: CO₂-датчик в контейнере с клубникой — показываем, как CO₂ растёт вместе с порчей.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План пилота: две недели меряем базовые списания вручную, две недели работают 2–3 датчика с Telegram-ботом, две недели сравниваем. Успех — снижение списаний на 20% и больше. Главный риск — менеджер игнорирует уведомления; поэтому даём готовую скидку, а не сырые данные.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Каждый участник называет себя и свою роль. Коротко: какие ИИ-инструменты использовали и для чего (поиск данных, тексты интервью, код бота, дизайн макета). Все промпты — в приложении П4. Благодарим и переходим к вопросам.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Путь менеджера: от боли (нашёл порчу поздно) через знакомство и установку датчиков к уведомлению и уценке. Итог — товар продан, списаний меньше.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Каждая цифра с источником или формулой. Главное допущение — списания 80 000 ₽ в месяц, его подтверждаем интервью. Безубыточность: 150 000 ₽ постоянных расходов делим на маржу 6 900 ₽ — около 22 магазинов.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Стек снизу вверх: недорогие сенсоры SCD40 и SGP40, ESP32 с Wi-Fi или SIM, Yandex Cloud, Telegram-бот как MVP. Прогноз начинаем с порогов, по мере накопления данных переходим к модели на временных рядах.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Для каждого инструмента: какую задачу решали, точный промпт и что из ответа реально вошло в проект. Жюри важно видеть, что ИИ — помощник, а решения принимала команда.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Таблица всех 15 интервью. Первые три строки — практики (директора, категорийные менеджеры, владельцы точек). По каждому — главная мысль и что она подтвердила или опровергла в гипотезе.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A8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18320" y="822960"/>
            <a:ext cx="3291840" cy="3291840"/>
          </a:xfrm>
          <a:prstGeom prst="ellipse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07040" y="3931920"/>
            <a:ext cx="2194560" cy="2194560"/>
          </a:xfrm>
          <a:prstGeom prst="ellipse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412480" y="4480560"/>
            <a:ext cx="1097280" cy="1097280"/>
          </a:xfrm>
          <a:prstGeom prst="ellipse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Кейс-чемпионат «Ключ»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8229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Arial"/>
              </a:rPr>
              <a:t>AeroFresh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7863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Arial"/>
              </a:rPr>
              <a:t>Спасаем еду до того, как она испортится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54880"/>
            <a:ext cx="7863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Arial"/>
              </a:rPr>
              <a:t>Категория РСХБ: Сенсоры и IoT / Фудтех</a:t>
            </a:r>
          </a:p>
          <a:p>
            <a:pPr algn="l">
              <a:spcBef>
                <a:spcPts val="1000"/>
              </a:spcBef>
            </a:pPr>
            <a:r>
              <a:rPr sz="2000" b="0" i="0">
                <a:solidFill>
                  <a:srgbClr val="FFFFFF"/>
                </a:solidFill>
                <a:latin typeface="Arial"/>
              </a:rPr>
              <a:t>Команда: </a:t>
            </a:r>
            <a:r>
              <a:rPr sz="2000" b="0" i="0">
                <a:solidFill>
                  <a:srgbClr val="1E2924"/>
                </a:solidFill>
                <a:highlight>
                  <a:srgbClr val="FFE45C"/>
                </a:highlight>
                <a:latin typeface="Arial"/>
              </a:rPr>
              <a:t>[ФИО, класс]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F6B66"/>
                </a:solidFill>
                <a:latin typeface="Arial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F6B66"/>
                </a:solidFill>
                <a:latin typeface="Arial"/>
              </a:rPr>
              <a:t>AeroFresh · кейс-чемпионат «Ключ»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A85B"/>
                </a:solidFill>
                <a:latin typeface="Arial"/>
              </a:rPr>
              <a:t>Проблема и ЦА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924"/>
                </a:solidFill>
                <a:latin typeface="Arial"/>
              </a:rPr>
              <a:t>Магазины узнают о порче, когда товар уже не продать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3657600" cy="1417320"/>
          </a:xfrm>
          <a:prstGeom prst="roundRect">
            <a:avLst>
              <a:gd name="adj" fmla="val 8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1801368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1FA85B"/>
                </a:solidFill>
                <a:latin typeface="Arial"/>
              </a:rPr>
              <a:t>13%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E2924"/>
                </a:solidFill>
                <a:latin typeface="Arial"/>
              </a:rPr>
              <a:t>еды теряется ещё до прилавка¹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46120"/>
            <a:ext cx="3657600" cy="1417320"/>
          </a:xfrm>
          <a:prstGeom prst="roundRect">
            <a:avLst>
              <a:gd name="adj" fmla="val 8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3355848"/>
            <a:ext cx="3200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1FA85B"/>
                </a:solidFill>
                <a:latin typeface="Arial"/>
              </a:rPr>
              <a:t>19%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02336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E2924"/>
                </a:solidFill>
                <a:latin typeface="Arial"/>
              </a:rPr>
              <a:t>выбрасывается в рознице, общепите и дома²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92040"/>
            <a:ext cx="3657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2924"/>
                </a:solidFill>
                <a:latin typeface="Arial"/>
              </a:rPr>
              <a:t>Больше всего списывается скоропорт: ягоды, зелень, овощи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691640"/>
            <a:ext cx="69796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A85B"/>
                </a:solidFill>
                <a:latin typeface="Arial"/>
              </a:rPr>
              <a:t>Целевая аудитория</a:t>
            </a:r>
          </a:p>
          <a:p>
            <a:pPr algn="l">
              <a:spcBef>
                <a:spcPts val="400"/>
              </a:spcBef>
            </a:pPr>
            <a:r>
              <a:rPr sz="1800" b="0" i="0">
                <a:solidFill>
                  <a:srgbClr val="1E2924"/>
                </a:solidFill>
                <a:latin typeface="Arial"/>
              </a:rPr>
              <a:t>Категорийные менеджеры и директора магазинов локальных торговых сетей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2697480"/>
            <a:ext cx="6979615" cy="1600200"/>
          </a:xfrm>
          <a:prstGeom prst="roundRect">
            <a:avLst>
              <a:gd name="adj" fmla="val 8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937760" y="2816352"/>
            <a:ext cx="6430975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1">
                <a:solidFill>
                  <a:srgbClr val="1E2924"/>
                </a:solidFill>
                <a:latin typeface="Arial"/>
              </a:rPr>
              <a:t>«В прошлую пятницу почти два ящика петрушки ушли в мусорку: продавец поставил их у обогревателя, а я заметил только вечером»</a:t>
            </a:r>
          </a:p>
          <a:p>
            <a:pPr algn="l">
              <a:spcBef>
                <a:spcPts val="600"/>
              </a:spcBef>
            </a:pPr>
            <a:r>
              <a:rPr sz="1300" b="0" i="0">
                <a:solidFill>
                  <a:srgbClr val="5F6B66"/>
                </a:solidFill>
                <a:latin typeface="Arial"/>
              </a:rPr>
              <a:t>— владелец 3 овощных точек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526280"/>
            <a:ext cx="69796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A85B"/>
                </a:solidFill>
                <a:latin typeface="Arial"/>
              </a:rPr>
              <a:t>Что не подтвердилось</a:t>
            </a:r>
          </a:p>
          <a:p>
            <a:pPr algn="l" marL="256032" indent="-256032">
              <a:spcBef>
                <a:spcPts val="400"/>
              </a:spcBef>
              <a:buClr>
                <a:srgbClr val="1FA85B"/>
              </a:buClr>
              <a:buFont typeface="Arial"/>
              <a:buChar char="•"/>
            </a:pPr>
            <a:r>
              <a:rPr sz="1600" b="0" i="0">
                <a:solidFill>
                  <a:srgbClr val="1E2924"/>
                </a:solidFill>
                <a:highlight>
                  <a:srgbClr val="FFE45C"/>
                </a:highlight>
                <a:latin typeface="Arial"/>
              </a:rPr>
              <a:t>[заполнить]</a:t>
            </a:r>
          </a:p>
          <a:p>
            <a:pPr algn="l" marL="256032" indent="-256032">
              <a:spcBef>
                <a:spcPts val="400"/>
              </a:spcBef>
              <a:buClr>
                <a:srgbClr val="1FA85B"/>
              </a:buClr>
              <a:buFont typeface="Arial"/>
              <a:buChar char="•"/>
            </a:pPr>
            <a:r>
              <a:rPr sz="1600" b="0" i="0">
                <a:solidFill>
                  <a:srgbClr val="1E2924"/>
                </a:solidFill>
                <a:latin typeface="Arial"/>
              </a:rPr>
              <a:t>Небольшим точкам 5 000 ₽/мес кажется дорого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833872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F6B66"/>
                </a:solidFill>
                <a:latin typeface="Arial"/>
              </a:rPr>
              <a:t>¹ ФАО ООН. The State of Food and Agriculture 2019: Moving forward on food loss and waste reduction.</a:t>
            </a:r>
          </a:p>
          <a:p>
            <a:pPr algn="l">
              <a:spcBef>
                <a:spcPts val="100"/>
              </a:spcBef>
            </a:pPr>
            <a:r>
              <a:rPr sz="1000" b="0" i="0">
                <a:solidFill>
                  <a:srgbClr val="5F6B66"/>
                </a:solidFill>
                <a:latin typeface="Arial"/>
              </a:rPr>
              <a:t>² ЮНЕП. Food Waste Index Report 2024.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F6B66"/>
                </a:solidFill>
                <a:latin typeface="Arial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F6B66"/>
                </a:solidFill>
                <a:latin typeface="Arial"/>
              </a:rPr>
              <a:t>AeroFresh · кейс-чемпионат «Ключ»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A85B"/>
                </a:solidFill>
                <a:latin typeface="Arial"/>
              </a:rPr>
              <a:t>Решение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924"/>
                </a:solidFill>
                <a:latin typeface="Arial"/>
              </a:rPr>
              <a:t>AeroFresh — многоразовый датчик свежести на ящике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484632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1E2924"/>
                </a:solidFill>
                <a:latin typeface="Arial"/>
              </a:rPr>
              <a:t>Измеряет газы и микроклимат прямо в ящике, оценивает, сколько осталось до порчи, и подсказывает, когда и на сколько уценить товар.</a:t>
            </a:r>
          </a:p>
          <a:p>
            <a:pPr algn="l" marL="256032" indent="-256032">
              <a:spcBef>
                <a:spcPts val="1600"/>
              </a:spcBef>
              <a:buClr>
                <a:srgbClr val="1FA85B"/>
              </a:buClr>
              <a:buFont typeface="Arial"/>
              <a:buChar char="•"/>
            </a:pPr>
            <a:r>
              <a:rPr sz="1800" b="0" i="0">
                <a:solidFill>
                  <a:srgbClr val="1E2924"/>
                </a:solidFill>
                <a:latin typeface="Arial"/>
              </a:rPr>
              <a:t>Ставится на ящик при приёмке</a:t>
            </a:r>
          </a:p>
          <a:p>
            <a:pPr algn="l" marL="256032" indent="-256032">
              <a:spcBef>
                <a:spcPts val="800"/>
              </a:spcBef>
              <a:buClr>
                <a:srgbClr val="1FA85B"/>
              </a:buClr>
              <a:buFont typeface="Arial"/>
              <a:buChar char="•"/>
            </a:pPr>
            <a:r>
              <a:rPr sz="1800" b="0" i="0">
                <a:solidFill>
                  <a:srgbClr val="1E2924"/>
                </a:solidFill>
                <a:latin typeface="Arial"/>
              </a:rPr>
              <a:t>Работает многократно — переставляется на новые партии</a:t>
            </a:r>
          </a:p>
          <a:p>
            <a:pPr algn="l" marL="256032" indent="-256032">
              <a:spcBef>
                <a:spcPts val="800"/>
              </a:spcBef>
              <a:buClr>
                <a:srgbClr val="1FA85B"/>
              </a:buClr>
              <a:buFont typeface="Arial"/>
              <a:buChar char="•"/>
            </a:pPr>
            <a:r>
              <a:rPr sz="1800" b="0" i="0">
                <a:solidFill>
                  <a:srgbClr val="1E2924"/>
                </a:solidFill>
                <a:latin typeface="Arial"/>
              </a:rPr>
              <a:t>Результат — готовое действие, а не график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783080"/>
            <a:ext cx="1554480" cy="1280160"/>
          </a:xfrm>
          <a:prstGeom prst="roundRect">
            <a:avLst>
              <a:gd name="adj" fmla="val 8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 i="0">
                <a:solidFill>
                  <a:srgbClr val="1FA85B"/>
                </a:solidFill>
                <a:latin typeface="Arial"/>
              </a:rPr>
              <a:t>CO₂</a:t>
            </a:r>
          </a:p>
          <a:p>
            <a:pPr algn="ctr">
              <a:spcBef>
                <a:spcPts val="200"/>
              </a:spcBef>
            </a:pPr>
            <a:r>
              <a:rPr sz="1300" b="0" i="0">
                <a:solidFill>
                  <a:srgbClr val="5F6B66"/>
                </a:solidFill>
                <a:latin typeface="Arial"/>
              </a:rPr>
              <a:t>дыхание продукта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783080"/>
            <a:ext cx="1554480" cy="1280160"/>
          </a:xfrm>
          <a:prstGeom prst="roundRect">
            <a:avLst>
              <a:gd name="adj" fmla="val 8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 i="0">
                <a:solidFill>
                  <a:srgbClr val="1FA85B"/>
                </a:solidFill>
                <a:latin typeface="Arial"/>
              </a:rPr>
              <a:t>ЛОС</a:t>
            </a:r>
          </a:p>
          <a:p>
            <a:pPr algn="ctr">
              <a:spcBef>
                <a:spcPts val="200"/>
              </a:spcBef>
            </a:pPr>
            <a:r>
              <a:rPr sz="1300" b="0" i="0">
                <a:solidFill>
                  <a:srgbClr val="5F6B66"/>
                </a:solidFill>
                <a:latin typeface="Arial"/>
              </a:rPr>
              <a:t>летучие вещества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3246120"/>
            <a:ext cx="1554480" cy="1280160"/>
          </a:xfrm>
          <a:prstGeom prst="roundRect">
            <a:avLst>
              <a:gd name="adj" fmla="val 8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 i="0">
                <a:solidFill>
                  <a:srgbClr val="1FA85B"/>
                </a:solidFill>
                <a:latin typeface="Arial"/>
              </a:rPr>
              <a:t>t °C</a:t>
            </a:r>
          </a:p>
          <a:p>
            <a:pPr algn="ctr">
              <a:spcBef>
                <a:spcPts val="200"/>
              </a:spcBef>
            </a:pPr>
            <a:r>
              <a:rPr sz="1300" b="0" i="0">
                <a:solidFill>
                  <a:srgbClr val="5F6B66"/>
                </a:solidFill>
                <a:latin typeface="Arial"/>
              </a:rPr>
              <a:t>температура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3246120"/>
            <a:ext cx="1554480" cy="1280160"/>
          </a:xfrm>
          <a:prstGeom prst="roundRect">
            <a:avLst>
              <a:gd name="adj" fmla="val 8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 i="0">
                <a:solidFill>
                  <a:srgbClr val="1FA85B"/>
                </a:solidFill>
                <a:latin typeface="Arial"/>
              </a:rPr>
              <a:t>RH %</a:t>
            </a:r>
          </a:p>
          <a:p>
            <a:pPr algn="ctr">
              <a:spcBef>
                <a:spcPts val="200"/>
              </a:spcBef>
            </a:pPr>
            <a:r>
              <a:rPr sz="1300" b="0" i="0">
                <a:solidFill>
                  <a:srgbClr val="5F6B66"/>
                </a:solidFill>
                <a:latin typeface="Arial"/>
              </a:rPr>
              <a:t>влажность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464040" y="3154680"/>
            <a:ext cx="548640" cy="0"/>
          </a:xfrm>
          <a:prstGeom prst="line">
            <a:avLst/>
          </a:prstGeom>
          <a:ln w="31750">
            <a:solidFill>
              <a:srgbClr val="1FA8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0149840" y="1783080"/>
            <a:ext cx="1493215" cy="1280160"/>
          </a:xfrm>
          <a:prstGeom prst="roundRect">
            <a:avLst>
              <a:gd name="adj" fmla="val 8000"/>
            </a:avLst>
          </a:prstGeom>
          <a:solidFill>
            <a:srgbClr val="1F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</a:rPr>
              <a:t>~12 ч</a:t>
            </a:r>
          </a:p>
          <a:p>
            <a:pPr algn="ctr">
              <a:spcBef>
                <a:spcPts val="200"/>
              </a:spcBef>
            </a:pPr>
            <a:r>
              <a:rPr sz="1300" b="0" i="0">
                <a:solidFill>
                  <a:srgbClr val="FFFFFF"/>
                </a:solidFill>
                <a:latin typeface="Arial"/>
              </a:rPr>
              <a:t>до порчи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149840" y="3246120"/>
            <a:ext cx="1493215" cy="1280160"/>
          </a:xfrm>
          <a:prstGeom prst="roundRect">
            <a:avLst>
              <a:gd name="adj" fmla="val 8000"/>
            </a:avLst>
          </a:prstGeom>
          <a:solidFill>
            <a:srgbClr val="1F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"/>
              </a:rPr>
              <a:t>−30%</a:t>
            </a:r>
          </a:p>
          <a:p>
            <a:pPr algn="ctr">
              <a:spcBef>
                <a:spcPts val="200"/>
              </a:spcBef>
            </a:pPr>
            <a:r>
              <a:rPr sz="1300" b="0" i="0">
                <a:solidFill>
                  <a:srgbClr val="FFFFFF"/>
                </a:solidFill>
                <a:latin typeface="Arial"/>
              </a:rPr>
              <a:t>уценить сейчас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4800600"/>
            <a:ext cx="56080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5F6B66"/>
                </a:solidFill>
                <a:latin typeface="Arial"/>
              </a:rPr>
              <a:t>Датчик «нюхает» сам продукт, а не только воздух в зале — поэтому видит порчу раньше человека.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F6B66"/>
                </a:solidFill>
                <a:latin typeface="Arial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F6B66"/>
                </a:solidFill>
                <a:latin typeface="Arial"/>
              </a:rPr>
              <a:t>AeroFresh · кейс-чемпионат «Ключ»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A85B"/>
                </a:solidFill>
                <a:latin typeface="Arial"/>
              </a:rPr>
              <a:t>Звено цепочки: доведение до потребителя (ритейл)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924"/>
                </a:solidFill>
                <a:latin typeface="Arial"/>
              </a:rPr>
              <a:t>Как это работает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853123" cy="1371600"/>
          </a:xfrm>
          <a:prstGeom prst="roundRect">
            <a:avLst>
              <a:gd name="adj" fmla="val 8000"/>
            </a:avLst>
          </a:prstGeom>
          <a:solidFill>
            <a:srgbClr val="1F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 i="0">
                <a:solidFill>
                  <a:srgbClr val="FFFFFF"/>
                </a:solidFill>
                <a:latin typeface="Arial"/>
              </a:rPr>
              <a:t>Датчик</a:t>
            </a:r>
          </a:p>
          <a:p>
            <a:pPr algn="ctr">
              <a:spcBef>
                <a:spcPts val="400"/>
              </a:spcBef>
            </a:pPr>
            <a:r>
              <a:rPr sz="1400" b="0" i="0">
                <a:solidFill>
                  <a:srgbClr val="FFFFFF"/>
                </a:solidFill>
                <a:latin typeface="Arial"/>
              </a:rPr>
              <a:t>на ящике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474915" y="2468880"/>
            <a:ext cx="310896" cy="0"/>
          </a:xfrm>
          <a:prstGeom prst="line">
            <a:avLst/>
          </a:prstGeom>
          <a:ln w="31750">
            <a:solidFill>
              <a:srgbClr val="1FA8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858963" y="1783080"/>
            <a:ext cx="1853123" cy="1371600"/>
          </a:xfrm>
          <a:prstGeom prst="roundRect">
            <a:avLst>
              <a:gd name="adj" fmla="val 8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 i="0">
                <a:solidFill>
                  <a:srgbClr val="1E2924"/>
                </a:solidFill>
                <a:latin typeface="Arial"/>
              </a:rPr>
              <a:t>Wi-Fi / SIM</a:t>
            </a:r>
          </a:p>
          <a:p>
            <a:pPr algn="ctr">
              <a:spcBef>
                <a:spcPts val="400"/>
              </a:spcBef>
            </a:pPr>
            <a:r>
              <a:rPr sz="1400" b="0" i="0">
                <a:solidFill>
                  <a:srgbClr val="5F6B66"/>
                </a:solidFill>
                <a:latin typeface="Arial"/>
              </a:rPr>
              <a:t>передача данных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785238" y="2468880"/>
            <a:ext cx="310896" cy="0"/>
          </a:xfrm>
          <a:prstGeom prst="line">
            <a:avLst/>
          </a:prstGeom>
          <a:ln w="31750">
            <a:solidFill>
              <a:srgbClr val="1FA8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169286" y="1783080"/>
            <a:ext cx="1853123" cy="1371600"/>
          </a:xfrm>
          <a:prstGeom prst="roundRect">
            <a:avLst>
              <a:gd name="adj" fmla="val 8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 i="0">
                <a:solidFill>
                  <a:srgbClr val="1E2924"/>
                </a:solidFill>
                <a:latin typeface="Arial"/>
              </a:rPr>
              <a:t>Облако</a:t>
            </a:r>
          </a:p>
          <a:p>
            <a:pPr algn="ctr">
              <a:spcBef>
                <a:spcPts val="400"/>
              </a:spcBef>
            </a:pPr>
            <a:r>
              <a:rPr sz="1400" b="0" i="0">
                <a:solidFill>
                  <a:srgbClr val="5F6B66"/>
                </a:solidFill>
                <a:latin typeface="Arial"/>
              </a:rPr>
              <a:t>хранение и расчёт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95561" y="2468880"/>
            <a:ext cx="310896" cy="0"/>
          </a:xfrm>
          <a:prstGeom prst="line">
            <a:avLst/>
          </a:prstGeom>
          <a:ln w="31750">
            <a:solidFill>
              <a:srgbClr val="1FA8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479609" y="1783080"/>
            <a:ext cx="1853123" cy="1371600"/>
          </a:xfrm>
          <a:prstGeom prst="roundRect">
            <a:avLst>
              <a:gd name="adj" fmla="val 8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 i="0">
                <a:solidFill>
                  <a:srgbClr val="1E2924"/>
                </a:solidFill>
                <a:latin typeface="Arial"/>
              </a:rPr>
              <a:t>Прогноз</a:t>
            </a:r>
          </a:p>
          <a:p>
            <a:pPr algn="ctr">
              <a:spcBef>
                <a:spcPts val="400"/>
              </a:spcBef>
            </a:pPr>
            <a:r>
              <a:rPr sz="1400" b="0" i="0">
                <a:solidFill>
                  <a:srgbClr val="5F6B66"/>
                </a:solidFill>
                <a:latin typeface="Arial"/>
              </a:rPr>
              <a:t>часы до порчи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405884" y="2468880"/>
            <a:ext cx="310896" cy="0"/>
          </a:xfrm>
          <a:prstGeom prst="line">
            <a:avLst/>
          </a:prstGeom>
          <a:ln w="31750">
            <a:solidFill>
              <a:srgbClr val="1FA8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789932" y="1783080"/>
            <a:ext cx="1853123" cy="1371600"/>
          </a:xfrm>
          <a:prstGeom prst="roundRect">
            <a:avLst>
              <a:gd name="adj" fmla="val 8000"/>
            </a:avLst>
          </a:prstGeom>
          <a:solidFill>
            <a:srgbClr val="1F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 i="0">
                <a:solidFill>
                  <a:srgbClr val="FFFFFF"/>
                </a:solidFill>
                <a:latin typeface="Arial"/>
              </a:rPr>
              <a:t>Уведомление</a:t>
            </a:r>
          </a:p>
          <a:p>
            <a:pPr algn="ctr">
              <a:spcBef>
                <a:spcPts val="400"/>
              </a:spcBef>
            </a:pPr>
            <a:r>
              <a:rPr sz="1400" b="0" i="0">
                <a:solidFill>
                  <a:srgbClr val="FFFFFF"/>
                </a:solidFill>
                <a:latin typeface="Arial"/>
              </a:rPr>
              <a:t>менеджеру зала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11880"/>
            <a:ext cx="676656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2960" y="3794760"/>
            <a:ext cx="6217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F6B66"/>
                </a:solidFill>
                <a:latin typeface="Arial"/>
              </a:rPr>
              <a:t>AeroFresh · уведомление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178808"/>
            <a:ext cx="6217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E2924"/>
                </a:solidFill>
                <a:latin typeface="Arial"/>
              </a:rPr>
              <a:t>Ящик №4, клубника, у входа: осталось ~12 часов.</a:t>
            </a:r>
          </a:p>
          <a:p>
            <a:pPr algn="l">
              <a:spcBef>
                <a:spcPts val="400"/>
              </a:spcBef>
            </a:pPr>
            <a:r>
              <a:rPr sz="2000" b="1" i="0">
                <a:solidFill>
                  <a:srgbClr val="1FA85B"/>
                </a:solidFill>
                <a:latin typeface="Arial"/>
              </a:rPr>
              <a:t>Сделайте скидку 30% сейчас.</a:t>
            </a:r>
          </a:p>
          <a:p>
            <a:pPr algn="l">
              <a:spcBef>
                <a:spcPts val="1000"/>
              </a:spcBef>
            </a:pPr>
            <a:r>
              <a:rPr sz="1300" b="0" i="0">
                <a:solidFill>
                  <a:srgbClr val="5F6B66"/>
                </a:solidFill>
                <a:latin typeface="Arial"/>
              </a:rPr>
              <a:t>После отзыва клиента: сразу какой ящик и что делать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3611880"/>
            <a:ext cx="3962095" cy="1051560"/>
          </a:xfrm>
          <a:prstGeom prst="roundRect">
            <a:avLst>
              <a:gd name="adj" fmla="val 8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955280" y="3739896"/>
            <a:ext cx="34134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A85B"/>
                </a:solidFill>
                <a:latin typeface="Arial"/>
              </a:rPr>
              <a:t>Пользуется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4114800"/>
            <a:ext cx="341345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E2924"/>
                </a:solidFill>
                <a:latin typeface="Arial"/>
              </a:rPr>
              <a:t>менеджер зала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60" y="4754880"/>
            <a:ext cx="3962095" cy="1051560"/>
          </a:xfrm>
          <a:prstGeom prst="roundRect">
            <a:avLst>
              <a:gd name="adj" fmla="val 8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955280" y="4882896"/>
            <a:ext cx="34134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A85B"/>
                </a:solidFill>
                <a:latin typeface="Arial"/>
              </a:rPr>
              <a:t>Платит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0" y="5257800"/>
            <a:ext cx="341345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1E2924"/>
                </a:solidFill>
                <a:latin typeface="Arial"/>
              </a:rPr>
              <a:t>торговая сеть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F6B66"/>
                </a:solidFill>
                <a:latin typeface="Arial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F6B66"/>
                </a:solidFill>
                <a:latin typeface="Arial"/>
              </a:rPr>
              <a:t>AeroFresh · кейс-чемпионат «Ключ»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A85B"/>
                </a:solidFill>
                <a:latin typeface="Arial"/>
              </a:rPr>
              <a:t>Рынок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924"/>
                </a:solidFill>
                <a:latin typeface="Arial"/>
              </a:rPr>
              <a:t>Рынок: считаем от магазина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1094415" cy="685800"/>
          </a:xfrm>
          <a:prstGeom prst="roundRect">
            <a:avLst>
              <a:gd name="adj" fmla="val 8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1E2924"/>
                </a:solidFill>
                <a:latin typeface="Arial"/>
              </a:rPr>
              <a:t>Объём = число магазинов × 9 900 ₽ × 12 мес = число магазинов × 118 800 ₽/год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606040"/>
          <a:ext cx="7315200" cy="292608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291840"/>
                <a:gridCol w="2011680"/>
                <a:gridCol w="2011680"/>
              </a:tblGrid>
              <a:tr h="731520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</a:rPr>
                        <a:t>Сегмент</a:t>
                      </a:r>
                    </a:p>
                  </a:txBody>
                  <a:tcPr marL="109728" marR="109728" marT="36576" marB="36576" anchor="ctr">
                    <a:solidFill>
                      <a:srgbClr val="1FA8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</a:rPr>
                        <a:t>Число магазинов</a:t>
                      </a:r>
                    </a:p>
                  </a:txBody>
                  <a:tcPr marL="109728" marR="109728" marT="36576" marB="36576" anchor="ctr">
                    <a:solidFill>
                      <a:srgbClr val="1FA8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</a:rPr>
                        <a:t>Объём, ₽/год</a:t>
                      </a:r>
                    </a:p>
                  </a:txBody>
                  <a:tcPr marL="109728" marR="109728" marT="36576" marB="36576" anchor="ctr">
                    <a:solidFill>
                      <a:srgbClr val="1FA85B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1E2924"/>
                          </a:solidFill>
                          <a:latin typeface="Arial"/>
                        </a:rPr>
                        <a:t>TAM — продуктовые магазины РФ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[N, источник]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[N × 118 800]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1E2924"/>
                          </a:solidFill>
                          <a:latin typeface="Arial"/>
                        </a:rPr>
                        <a:t>SAM — региональные сети</a:t>
                      </a:r>
                    </a:p>
                  </a:txBody>
                  <a:tcPr marL="109728" marR="109728" marT="36576" marB="36576" anchor="ctr">
                    <a:solidFill>
                      <a:srgbClr val="E9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[N, источник]</a:t>
                      </a:r>
                    </a:p>
                  </a:txBody>
                  <a:tcPr marL="109728" marR="109728" marT="36576" marB="36576" anchor="ctr">
                    <a:solidFill>
                      <a:srgbClr val="E9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[N × 118 800]</a:t>
                      </a:r>
                    </a:p>
                  </a:txBody>
                  <a:tcPr marL="109728" marR="109728" marT="36576" marB="36576" anchor="ctr">
                    <a:solidFill>
                      <a:srgbClr val="E9F7E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1E2924"/>
                          </a:solidFill>
                          <a:latin typeface="Arial"/>
                        </a:rPr>
                        <a:t>SOM — цель на старте</a:t>
                      </a:r>
                    </a:p>
                  </a:txBody>
                  <a:tcPr marL="109728" marR="109728" marT="36576" marB="36576" anchor="ctr">
                    <a:solidFill>
                      <a:srgbClr val="C9ECD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1E2924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109728" marR="109728" marT="36576" marB="36576" anchor="ctr">
                    <a:solidFill>
                      <a:srgbClr val="C9ECD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1E2924"/>
                          </a:solidFill>
                          <a:latin typeface="Arial"/>
                        </a:rPr>
                        <a:t>≈ 6 млн</a:t>
                      </a:r>
                    </a:p>
                  </a:txBody>
                  <a:tcPr marL="109728" marR="109728" marT="36576" marB="36576" anchor="ctr">
                    <a:solidFill>
                      <a:srgbClr val="C9ECD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229600" y="2606040"/>
            <a:ext cx="3413455" cy="1417320"/>
          </a:xfrm>
          <a:prstGeom prst="roundRect">
            <a:avLst>
              <a:gd name="adj" fmla="val 8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458200" y="2743200"/>
            <a:ext cx="295625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A85B"/>
                </a:solidFill>
                <a:latin typeface="Arial"/>
              </a:rPr>
              <a:t>Тренды</a:t>
            </a:r>
          </a:p>
          <a:p>
            <a:pPr algn="l" marL="256032" indent="-256032">
              <a:spcBef>
                <a:spcPts val="300"/>
              </a:spcBef>
              <a:buClr>
                <a:srgbClr val="1FA85B"/>
              </a:buClr>
              <a:buFont typeface="Arial"/>
              <a:buChar char="•"/>
            </a:pPr>
            <a:r>
              <a:rPr sz="1500" b="0" i="0">
                <a:solidFill>
                  <a:srgbClr val="1E2924"/>
                </a:solidFill>
                <a:latin typeface="Arial"/>
              </a:rPr>
              <a:t>Борьба с пищевыми отходами</a:t>
            </a:r>
          </a:p>
          <a:p>
            <a:pPr algn="l" marL="256032" indent="-256032">
              <a:spcBef>
                <a:spcPts val="300"/>
              </a:spcBef>
              <a:buClr>
                <a:srgbClr val="1FA85B"/>
              </a:buClr>
              <a:buFont typeface="Arial"/>
              <a:buChar char="•"/>
            </a:pPr>
            <a:r>
              <a:rPr sz="1500" b="0" i="0">
                <a:solidFill>
                  <a:srgbClr val="1E2924"/>
                </a:solidFill>
                <a:latin typeface="Arial"/>
              </a:rPr>
              <a:t>Автоматизация ритейла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4114800"/>
            <a:ext cx="3413455" cy="1417320"/>
          </a:xfrm>
          <a:prstGeom prst="roundRect">
            <a:avLst>
              <a:gd name="adj" fmla="val 8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458200" y="4251960"/>
            <a:ext cx="295625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A85B"/>
                </a:solidFill>
                <a:latin typeface="Arial"/>
              </a:rPr>
              <a:t>Барьеры</a:t>
            </a:r>
          </a:p>
          <a:p>
            <a:pPr algn="l" marL="256032" indent="-256032">
              <a:spcBef>
                <a:spcPts val="300"/>
              </a:spcBef>
              <a:buClr>
                <a:srgbClr val="1FA85B"/>
              </a:buClr>
              <a:buFont typeface="Arial"/>
              <a:buChar char="•"/>
            </a:pPr>
            <a:r>
              <a:rPr sz="1500" b="0" i="0">
                <a:solidFill>
                  <a:srgbClr val="1E2924"/>
                </a:solidFill>
                <a:latin typeface="Arial"/>
              </a:rPr>
              <a:t>Интеграция с кассой</a:t>
            </a:r>
          </a:p>
          <a:p>
            <a:pPr algn="l" marL="256032" indent="-256032">
              <a:spcBef>
                <a:spcPts val="300"/>
              </a:spcBef>
              <a:buClr>
                <a:srgbClr val="1FA85B"/>
              </a:buClr>
              <a:buFont typeface="Arial"/>
              <a:buChar char="•"/>
            </a:pPr>
            <a:r>
              <a:rPr sz="1500" b="0" i="0">
                <a:solidFill>
                  <a:srgbClr val="1E2924"/>
                </a:solidFill>
                <a:latin typeface="Arial"/>
              </a:rPr>
              <a:t>Требования к торговому оборудованию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F6B66"/>
                </a:solidFill>
                <a:latin typeface="Arial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F6B66"/>
                </a:solidFill>
                <a:latin typeface="Arial"/>
              </a:rPr>
              <a:t>AeroFresh · кейс-чемпионат «Ключ»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A85B"/>
                </a:solidFill>
                <a:latin typeface="Arial"/>
              </a:rPr>
              <a:t>Альтернативы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924"/>
                </a:solidFill>
                <a:latin typeface="Arial"/>
              </a:rPr>
              <a:t>Чем магазины пользуются сейчас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11094414" cy="32004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4584469"/>
                <a:gridCol w="6509945"/>
              </a:tblGrid>
              <a:tr h="640080">
                <a:tc>
                  <a:txBody>
                    <a:bodyPr wrap="square"/>
                    <a:lstStyle/>
                    <a:p>
                      <a:r>
                        <a:rPr sz="1700" b="1" i="0">
                          <a:solidFill>
                            <a:srgbClr val="FFFFFF"/>
                          </a:solidFill>
                          <a:latin typeface="Arial"/>
                        </a:rPr>
                        <a:t>Альтернатива</a:t>
                      </a:r>
                    </a:p>
                  </a:txBody>
                  <a:tcPr marL="109728" marR="109728" marT="36576" marB="36576" anchor="ctr">
                    <a:solidFill>
                      <a:srgbClr val="1FA8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 i="0">
                          <a:solidFill>
                            <a:srgbClr val="FFFFFF"/>
                          </a:solidFill>
                          <a:latin typeface="Arial"/>
                        </a:rPr>
                        <a:t>Почему не решает проблему</a:t>
                      </a:r>
                    </a:p>
                  </a:txBody>
                  <a:tcPr marL="109728" marR="109728" marT="36576" marB="36576" anchor="ctr">
                    <a:solidFill>
                      <a:srgbClr val="1FA85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700" b="1" i="0">
                          <a:solidFill>
                            <a:srgbClr val="1E2924"/>
                          </a:solidFill>
                          <a:latin typeface="Arial"/>
                        </a:rPr>
                        <a:t>Ручной обход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 i="0">
                          <a:solidFill>
                            <a:srgbClr val="1E2924"/>
                          </a:solidFill>
                          <a:latin typeface="Arial"/>
                        </a:rPr>
                        <a:t>Долго, субъективно, не видно, что внутри ящика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700" b="1" i="0">
                          <a:solidFill>
                            <a:srgbClr val="1E2924"/>
                          </a:solidFill>
                          <a:latin typeface="Arial"/>
                        </a:rPr>
                        <a:t>Термодатчики</a:t>
                      </a:r>
                    </a:p>
                  </a:txBody>
                  <a:tcPr marL="109728" marR="109728" marT="36576" marB="36576" anchor="ctr">
                    <a:solidFill>
                      <a:srgbClr val="E9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 i="0">
                          <a:solidFill>
                            <a:srgbClr val="1E2924"/>
                          </a:solidFill>
                          <a:latin typeface="Arial"/>
                        </a:rPr>
                        <a:t>Меряют воздух в зале, а не состояние продукта</a:t>
                      </a:r>
                    </a:p>
                  </a:txBody>
                  <a:tcPr marL="109728" marR="109728" marT="36576" marB="36576" anchor="ctr">
                    <a:solidFill>
                      <a:srgbClr val="E9F7E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700" b="1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[Реальные конкуренты: мониторинг холодовой цепи]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[чем отличаются]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700" b="1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[Реальные конкуренты: сервисы уценки]</a:t>
                      </a:r>
                    </a:p>
                  </a:txBody>
                  <a:tcPr marL="109728" marR="109728" marT="36576" marB="36576" anchor="ctr">
                    <a:solidFill>
                      <a:srgbClr val="E9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[чем отличаются]</a:t>
                      </a:r>
                    </a:p>
                  </a:txBody>
                  <a:tcPr marL="109728" marR="109728" marT="36576" marB="36576" anchor="ctr">
                    <a:solidFill>
                      <a:srgbClr val="E9F7E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34924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1F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Наше отличие: смотрим на газы самого продукта и переводим это в действие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F6B66"/>
                </a:solidFill>
                <a:latin typeface="Arial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F6B66"/>
                </a:solidFill>
                <a:latin typeface="Arial"/>
              </a:rPr>
              <a:t>AeroFresh · кейс-чемпионат «Ключ»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A85B"/>
                </a:solidFill>
                <a:latin typeface="Arial"/>
              </a:rPr>
              <a:t>Бизнес-модель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924"/>
                </a:solidFill>
                <a:latin typeface="Arial"/>
              </a:rPr>
              <a:t>Бизнес-модель: подписка за магазин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 i="0">
                <a:solidFill>
                  <a:srgbClr val="1FA85B"/>
                </a:solidFill>
                <a:latin typeface="Arial"/>
              </a:rPr>
              <a:t>9 900 ₽</a:t>
            </a:r>
          </a:p>
          <a:p>
            <a:pPr algn="ctr">
              <a:spcBef>
                <a:spcPts val="200"/>
              </a:spcBef>
            </a:pPr>
            <a:r>
              <a:rPr sz="1400" b="0" i="0">
                <a:solidFill>
                  <a:srgbClr val="5F6B66"/>
                </a:solidFill>
                <a:latin typeface="Arial"/>
              </a:rPr>
              <a:t>подписка в месяц
за магазин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8218" y="169164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 i="0">
                <a:solidFill>
                  <a:srgbClr val="1FA85B"/>
                </a:solidFill>
                <a:latin typeface="Arial"/>
              </a:rPr>
              <a:t>6 900 ₽</a:t>
            </a:r>
          </a:p>
          <a:p>
            <a:pPr algn="ctr">
              <a:spcBef>
                <a:spcPts val="200"/>
              </a:spcBef>
            </a:pPr>
            <a:r>
              <a:rPr sz="1400" b="0" i="0">
                <a:solidFill>
                  <a:srgbClr val="5F6B66"/>
                </a:solidFill>
                <a:latin typeface="Arial"/>
              </a:rPr>
              <a:t>наша маржа
в месяц с магазина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7796" y="169164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1F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 i="0">
                <a:solidFill>
                  <a:srgbClr val="FFFFFF"/>
                </a:solidFill>
                <a:latin typeface="Arial"/>
              </a:rPr>
              <a:t>≈14 000 ₽</a:t>
            </a:r>
          </a:p>
          <a:p>
            <a:pPr algn="ctr">
              <a:spcBef>
                <a:spcPts val="200"/>
              </a:spcBef>
            </a:pPr>
            <a:r>
              <a:rPr sz="1400" b="0" i="0">
                <a:solidFill>
                  <a:srgbClr val="FFFFFF"/>
                </a:solidFill>
                <a:latin typeface="Arial"/>
              </a:rPr>
              <a:t>чистая выгода
клиента в месяц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37560"/>
            <a:ext cx="536432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A85B"/>
                </a:solidFill>
                <a:latin typeface="Arial"/>
              </a:rPr>
              <a:t>Для нас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3703320"/>
          <a:ext cx="5364326" cy="2048256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329582"/>
                <a:gridCol w="2034744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Статья</a:t>
                      </a:r>
                    </a:p>
                  </a:txBody>
                  <a:tcPr marL="109728" marR="109728" marT="36576" marB="36576" anchor="ctr">
                    <a:solidFill>
                      <a:srgbClr val="1FA8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₽/мес на магазин</a:t>
                      </a:r>
                    </a:p>
                  </a:txBody>
                  <a:tcPr marL="109728" marR="109728" marT="36576" marB="36576" anchor="ctr">
                    <a:solidFill>
                      <a:srgbClr val="1FA85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2924"/>
                          </a:solidFill>
                          <a:latin typeface="Arial"/>
                        </a:rPr>
                        <a:t>Подписка (10 датчиков включены)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2924"/>
                          </a:solidFill>
                          <a:latin typeface="Arial"/>
                        </a:rPr>
                        <a:t>9 900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2924"/>
                          </a:solidFill>
                          <a:latin typeface="Arial"/>
                        </a:rPr>
                        <a:t>Наши затраты</a:t>
                      </a:r>
                    </a:p>
                  </a:txBody>
                  <a:tcPr marL="109728" marR="109728" marT="36576" marB="36576" anchor="ctr">
                    <a:solidFill>
                      <a:srgbClr val="E9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2924"/>
                          </a:solidFill>
                          <a:latin typeface="Arial"/>
                        </a:rPr>
                        <a:t>≈ 3 000</a:t>
                      </a:r>
                    </a:p>
                  </a:txBody>
                  <a:tcPr marL="109728" marR="109728" marT="36576" marB="36576" anchor="ctr">
                    <a:solidFill>
                      <a:srgbClr val="E9F7E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E2924"/>
                          </a:solidFill>
                          <a:latin typeface="Arial"/>
                        </a:rPr>
                        <a:t>Маржа</a:t>
                      </a:r>
                    </a:p>
                  </a:txBody>
                  <a:tcPr marL="109728" marR="109728" marT="36576" marB="36576" anchor="ctr">
                    <a:solidFill>
                      <a:srgbClr val="C9ECD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E2924"/>
                          </a:solidFill>
                          <a:latin typeface="Arial"/>
                        </a:rPr>
                        <a:t>≈ 6 900</a:t>
                      </a:r>
                    </a:p>
                  </a:txBody>
                  <a:tcPr marL="109728" marR="109728" marT="36576" marB="36576" anchor="ctr">
                    <a:solidFill>
                      <a:srgbClr val="C9ECD7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78727" y="3337560"/>
            <a:ext cx="536432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A85B"/>
                </a:solidFill>
                <a:latin typeface="Arial"/>
              </a:rPr>
              <a:t>Для клиента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78727" y="3703320"/>
          <a:ext cx="5364326" cy="2048256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329582"/>
                <a:gridCol w="2034744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Статья</a:t>
                      </a:r>
                    </a:p>
                  </a:txBody>
                  <a:tcPr marL="109728" marR="109728" marT="36576" marB="36576" anchor="ctr">
                    <a:solidFill>
                      <a:srgbClr val="1FA8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₽/мес</a:t>
                      </a:r>
                    </a:p>
                  </a:txBody>
                  <a:tcPr marL="109728" marR="109728" marT="36576" marB="36576" anchor="ctr">
                    <a:solidFill>
                      <a:srgbClr val="1FA85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2924"/>
                          </a:solidFill>
                          <a:latin typeface="Arial"/>
                        </a:rPr>
                        <a:t>Снижение списаний на 30%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2924"/>
                          </a:solidFill>
                          <a:latin typeface="Arial"/>
                        </a:rPr>
                        <a:t>≈ 24 000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2924"/>
                          </a:solidFill>
                          <a:latin typeface="Arial"/>
                        </a:rPr>
                        <a:t>Подписка</a:t>
                      </a:r>
                    </a:p>
                  </a:txBody>
                  <a:tcPr marL="109728" marR="109728" marT="36576" marB="36576" anchor="ctr">
                    <a:solidFill>
                      <a:srgbClr val="E9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2924"/>
                          </a:solidFill>
                          <a:latin typeface="Arial"/>
                        </a:rPr>
                        <a:t>− 9 900</a:t>
                      </a:r>
                    </a:p>
                  </a:txBody>
                  <a:tcPr marL="109728" marR="109728" marT="36576" marB="36576" anchor="ctr">
                    <a:solidFill>
                      <a:srgbClr val="E9F7E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E2924"/>
                          </a:solidFill>
                          <a:latin typeface="Arial"/>
                        </a:rPr>
                        <a:t>Чистая выгода</a:t>
                      </a:r>
                    </a:p>
                  </a:txBody>
                  <a:tcPr marL="109728" marR="109728" marT="36576" marB="36576" anchor="ctr">
                    <a:solidFill>
                      <a:srgbClr val="C9ECD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E2924"/>
                          </a:solidFill>
                          <a:latin typeface="Arial"/>
                        </a:rPr>
                        <a:t>≈ 14 000</a:t>
                      </a:r>
                    </a:p>
                  </a:txBody>
                  <a:tcPr marL="109728" marR="109728" marT="36576" marB="36576" anchor="ctr">
                    <a:solidFill>
                      <a:srgbClr val="C9ECD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F6B66"/>
                </a:solidFill>
                <a:latin typeface="Arial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F6B66"/>
                </a:solidFill>
                <a:latin typeface="Arial"/>
              </a:rPr>
              <a:t>AeroFresh · кейс-чемпионат «Ключ»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A85B"/>
                </a:solidFill>
                <a:latin typeface="Arial"/>
              </a:rPr>
              <a:t>Прототип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924"/>
                </a:solidFill>
                <a:latin typeface="Arial"/>
              </a:rPr>
              <a:t>Прототип и проверка с пользователями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246888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A85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 i="0">
                <a:solidFill>
                  <a:srgbClr val="1E2924"/>
                </a:solidFill>
                <a:highlight>
                  <a:srgbClr val="FFE45C"/>
                </a:highlight>
                <a:latin typeface="Arial"/>
              </a:rPr>
              <a:t>[Скриншот: список партий с таймерами]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691640"/>
            <a:ext cx="246888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A85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 i="0">
                <a:solidFill>
                  <a:srgbClr val="1E2924"/>
                </a:solidFill>
                <a:highlight>
                  <a:srgbClr val="FFE45C"/>
                </a:highlight>
                <a:latin typeface="Arial"/>
              </a:rPr>
              <a:t>[Скриншот: уведомление]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691640"/>
            <a:ext cx="274320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A85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1FA85B"/>
                </a:solidFill>
                <a:latin typeface="Arial"/>
              </a:rPr>
              <a:t>Практический тест</a:t>
            </a:r>
          </a:p>
          <a:p>
            <a:pPr algn="ctr">
              <a:spcBef>
                <a:spcPts val="800"/>
              </a:spcBef>
            </a:pPr>
            <a:r>
              <a:rPr sz="1400" b="0" i="0">
                <a:solidFill>
                  <a:srgbClr val="1E2924"/>
                </a:solidFill>
                <a:latin typeface="Arial"/>
              </a:rPr>
              <a:t>CO₂-датчик в контейнере с клубникой</a:t>
            </a:r>
          </a:p>
          <a:p>
            <a:pPr algn="ctr">
              <a:spcBef>
                <a:spcPts val="800"/>
              </a:spcBef>
            </a:pPr>
            <a:r>
              <a:rPr sz="1400" b="0" i="0">
                <a:solidFill>
                  <a:srgbClr val="1E2924"/>
                </a:solidFill>
                <a:highlight>
                  <a:srgbClr val="FFE45C"/>
                </a:highlight>
                <a:latin typeface="Arial"/>
              </a:rPr>
              <a:t>[график роста CO₂ и фото порчи по дням]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691640"/>
            <a:ext cx="2499055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A85B"/>
                </a:solidFill>
                <a:latin typeface="Arial"/>
              </a:rPr>
              <a:t>Проверка</a:t>
            </a:r>
          </a:p>
          <a:p>
            <a:pPr algn="l">
              <a:spcBef>
                <a:spcPts val="400"/>
              </a:spcBef>
            </a:pPr>
            <a:r>
              <a:rPr sz="1500" b="0" i="0">
                <a:solidFill>
                  <a:srgbClr val="1E2924"/>
                </a:solidFill>
                <a:highlight>
                  <a:srgbClr val="FFE45C"/>
                </a:highlight>
                <a:latin typeface="Arial"/>
              </a:rPr>
              <a:t>[сколько человек видели, что сказали]</a:t>
            </a:r>
          </a:p>
          <a:p>
            <a:pPr algn="l">
              <a:spcBef>
                <a:spcPts val="1600"/>
              </a:spcBef>
            </a:pPr>
            <a:r>
              <a:rPr sz="1400" b="1" i="0">
                <a:solidFill>
                  <a:srgbClr val="1FA85B"/>
                </a:solidFill>
                <a:latin typeface="Arial"/>
              </a:rPr>
              <a:t>Изменили после отзывов</a:t>
            </a:r>
          </a:p>
          <a:p>
            <a:pPr algn="l" marL="256032" indent="-256032">
              <a:spcBef>
                <a:spcPts val="400"/>
              </a:spcBef>
              <a:buClr>
                <a:srgbClr val="1FA85B"/>
              </a:buClr>
              <a:buFont typeface="Arial"/>
              <a:buChar char="•"/>
            </a:pPr>
            <a:r>
              <a:rPr sz="1500" b="0" i="0">
                <a:solidFill>
                  <a:srgbClr val="1E2924"/>
                </a:solidFill>
                <a:latin typeface="Arial"/>
              </a:rPr>
              <a:t>Уведомление указывает конкретный ящик и действие</a:t>
            </a:r>
          </a:p>
          <a:p>
            <a:pPr algn="l" marL="256032" indent="-256032">
              <a:spcBef>
                <a:spcPts val="400"/>
              </a:spcBef>
              <a:buClr>
                <a:srgbClr val="1FA85B"/>
              </a:buClr>
              <a:buFont typeface="Arial"/>
              <a:buChar char="•"/>
            </a:pPr>
            <a:r>
              <a:rPr sz="1500" b="0" i="0">
                <a:solidFill>
                  <a:srgbClr val="1E2924"/>
                </a:solidFill>
                <a:latin typeface="Arial"/>
              </a:rPr>
              <a:t>Пересмотрена цена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120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5F6B66"/>
                </a:solidFill>
                <a:latin typeface="Arial"/>
              </a:rPr>
              <a:t>Цикл: показали макет → собрали отзывы → поменяли уведомление и цену → проверили CO₂ на настоящей клубнике.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F6B66"/>
                </a:solidFill>
                <a:latin typeface="Arial"/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F6B66"/>
                </a:solidFill>
                <a:latin typeface="Arial"/>
              </a:rPr>
              <a:t>AeroFresh · кейс-чемпионат «Ключ»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A85B"/>
                </a:solidFill>
                <a:latin typeface="Arial"/>
              </a:rPr>
              <a:t>План теста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924"/>
                </a:solidFill>
                <a:latin typeface="Arial"/>
              </a:rPr>
              <a:t>План пилота на 4–6 недель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1F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43000" y="1988819"/>
            <a:ext cx="3103778" cy="0"/>
          </a:xfrm>
          <a:prstGeom prst="line">
            <a:avLst/>
          </a:prstGeom>
          <a:ln w="25400">
            <a:solidFill>
              <a:srgbClr val="D5DD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48640" y="2468880"/>
            <a:ext cx="3515258" cy="1828800"/>
          </a:xfrm>
          <a:prstGeom prst="roundRect">
            <a:avLst>
              <a:gd name="adj" fmla="val 8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2606040"/>
            <a:ext cx="305805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A85B"/>
                </a:solidFill>
                <a:latin typeface="Arial"/>
              </a:rPr>
              <a:t>Недели 1–2</a:t>
            </a:r>
          </a:p>
          <a:p>
            <a:pPr algn="l">
              <a:spcBef>
                <a:spcPts val="400"/>
              </a:spcBef>
            </a:pPr>
            <a:r>
              <a:rPr sz="2000" b="1" i="0">
                <a:solidFill>
                  <a:srgbClr val="1E2924"/>
                </a:solidFill>
                <a:latin typeface="Arial"/>
              </a:rPr>
              <a:t>Базовый уровень</a:t>
            </a:r>
          </a:p>
          <a:p>
            <a:pPr algn="l">
              <a:spcBef>
                <a:spcPts val="600"/>
              </a:spcBef>
            </a:pPr>
            <a:r>
              <a:rPr sz="1500" b="0" i="0">
                <a:solidFill>
                  <a:srgbClr val="1E2924"/>
                </a:solidFill>
                <a:latin typeface="Arial"/>
              </a:rPr>
              <a:t>В 1 магазине фиксируем списания вручную</a:t>
            </a:r>
          </a:p>
        </p:txBody>
      </p:sp>
      <p:sp>
        <p:nvSpPr>
          <p:cNvPr id="10" name="Oval 9"/>
          <p:cNvSpPr/>
          <p:nvPr/>
        </p:nvSpPr>
        <p:spPr>
          <a:xfrm>
            <a:off x="4338218" y="1737360"/>
            <a:ext cx="502920" cy="502920"/>
          </a:xfrm>
          <a:prstGeom prst="ellipse">
            <a:avLst/>
          </a:prstGeom>
          <a:solidFill>
            <a:srgbClr val="1F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32578" y="1988819"/>
            <a:ext cx="3103778" cy="0"/>
          </a:xfrm>
          <a:prstGeom prst="line">
            <a:avLst/>
          </a:prstGeom>
          <a:ln w="25400">
            <a:solidFill>
              <a:srgbClr val="D5DD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38218" y="2468880"/>
            <a:ext cx="3515258" cy="1828800"/>
          </a:xfrm>
          <a:prstGeom prst="roundRect">
            <a:avLst>
              <a:gd name="adj" fmla="val 8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66818" y="2606040"/>
            <a:ext cx="305805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A85B"/>
                </a:solidFill>
                <a:latin typeface="Arial"/>
              </a:rPr>
              <a:t>Недели 3–4</a:t>
            </a:r>
          </a:p>
          <a:p>
            <a:pPr algn="l">
              <a:spcBef>
                <a:spcPts val="400"/>
              </a:spcBef>
            </a:pPr>
            <a:r>
              <a:rPr sz="2000" b="1" i="0">
                <a:solidFill>
                  <a:srgbClr val="1E2924"/>
                </a:solidFill>
                <a:latin typeface="Arial"/>
              </a:rPr>
              <a:t>Запуск датчиков</a:t>
            </a:r>
          </a:p>
          <a:p>
            <a:pPr algn="l">
              <a:spcBef>
                <a:spcPts val="600"/>
              </a:spcBef>
            </a:pPr>
            <a:r>
              <a:rPr sz="1500" b="0" i="0">
                <a:solidFill>
                  <a:srgbClr val="1E2924"/>
                </a:solidFill>
                <a:latin typeface="Arial"/>
              </a:rPr>
              <a:t>2–3 датчика (CO₂-модуль + ESP32) и Telegram-бот</a:t>
            </a:r>
          </a:p>
        </p:txBody>
      </p:sp>
      <p:sp>
        <p:nvSpPr>
          <p:cNvPr id="14" name="Oval 13"/>
          <p:cNvSpPr/>
          <p:nvPr/>
        </p:nvSpPr>
        <p:spPr>
          <a:xfrm>
            <a:off x="8127796" y="1737360"/>
            <a:ext cx="502920" cy="502920"/>
          </a:xfrm>
          <a:prstGeom prst="ellipse">
            <a:avLst/>
          </a:prstGeom>
          <a:solidFill>
            <a:srgbClr val="1F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7796" y="2468880"/>
            <a:ext cx="3515258" cy="1828800"/>
          </a:xfrm>
          <a:prstGeom prst="roundRect">
            <a:avLst>
              <a:gd name="adj" fmla="val 8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356396" y="2606040"/>
            <a:ext cx="305805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A85B"/>
                </a:solidFill>
                <a:latin typeface="Arial"/>
              </a:rPr>
              <a:t>Недели 5–6</a:t>
            </a:r>
          </a:p>
          <a:p>
            <a:pPr algn="l">
              <a:spcBef>
                <a:spcPts val="400"/>
              </a:spcBef>
            </a:pPr>
            <a:r>
              <a:rPr sz="2000" b="1" i="0">
                <a:solidFill>
                  <a:srgbClr val="1E2924"/>
                </a:solidFill>
                <a:latin typeface="Arial"/>
              </a:rPr>
              <a:t>Сравнение</a:t>
            </a:r>
          </a:p>
          <a:p>
            <a:pPr algn="l">
              <a:spcBef>
                <a:spcPts val="600"/>
              </a:spcBef>
            </a:pPr>
            <a:r>
              <a:rPr sz="1500" b="0" i="0">
                <a:solidFill>
                  <a:srgbClr val="1E2924"/>
                </a:solidFill>
                <a:latin typeface="Arial"/>
              </a:rPr>
              <a:t>Сравниваем списания до и после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572000"/>
            <a:ext cx="3840480" cy="1188720"/>
          </a:xfrm>
          <a:prstGeom prst="roundRect">
            <a:avLst>
              <a:gd name="adj" fmla="val 8000"/>
            </a:avLst>
          </a:prstGeom>
          <a:solidFill>
            <a:srgbClr val="1F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Критерий успеха</a:t>
            </a:r>
          </a:p>
          <a:p>
            <a:pPr algn="ctr">
              <a:spcBef>
                <a:spcPts val="400"/>
              </a:spcBef>
            </a:pPr>
            <a:r>
              <a:rPr sz="2000" b="1" i="0">
                <a:solidFill>
                  <a:srgbClr val="FFFFFF"/>
                </a:solidFill>
                <a:latin typeface="Arial"/>
              </a:rPr>
              <a:t>списания −20% и больше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4572000"/>
            <a:ext cx="6979615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937760" y="4709160"/>
            <a:ext cx="643097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2924"/>
                </a:solidFill>
                <a:latin typeface="Arial"/>
              </a:rPr>
              <a:t>Риск: менеджер не реагирует на уведомления</a:t>
            </a:r>
          </a:p>
          <a:p>
            <a:pPr algn="l">
              <a:spcBef>
                <a:spcPts val="400"/>
              </a:spcBef>
            </a:pPr>
            <a:r>
              <a:rPr sz="1500" b="0" i="0">
                <a:solidFill>
                  <a:srgbClr val="1E2924"/>
                </a:solidFill>
                <a:latin typeface="Arial"/>
              </a:rPr>
              <a:t>Ответ: короткая рекомендация с уже посчитанной скидкой — одно действие вместо анализа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F6B66"/>
                </a:solidFill>
                <a:latin typeface="Arial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F6B66"/>
                </a:solidFill>
                <a:latin typeface="Arial"/>
              </a:rPr>
              <a:t>AeroFresh · кейс-чемпионат «Ключ»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A85B"/>
                </a:solidFill>
                <a:latin typeface="Arial"/>
              </a:rPr>
              <a:t>Команда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924"/>
                </a:solidFill>
                <a:latin typeface="Arial"/>
              </a:rPr>
              <a:t>Команда и использование ИИ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2103120" cy="3291840"/>
          </a:xfrm>
          <a:prstGeom prst="roundRect">
            <a:avLst>
              <a:gd name="adj" fmla="val 8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005840" y="1920240"/>
            <a:ext cx="118872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A85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 i="0">
                <a:solidFill>
                  <a:srgbClr val="1E2924"/>
                </a:solidFill>
                <a:highlight>
                  <a:srgbClr val="FFE45C"/>
                </a:highlight>
                <a:latin typeface="Arial"/>
              </a:rPr>
              <a:t>[фото]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1737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E2924"/>
                </a:solidFill>
                <a:highlight>
                  <a:srgbClr val="FFE45C"/>
                </a:highlight>
                <a:latin typeface="Arial"/>
              </a:rPr>
              <a:t>[ФИО]</a:t>
            </a:r>
          </a:p>
          <a:p>
            <a:pPr algn="ctr">
              <a:spcBef>
                <a:spcPts val="600"/>
              </a:spcBef>
            </a:pPr>
            <a:r>
              <a:rPr sz="1400" b="0" i="0">
                <a:solidFill>
                  <a:srgbClr val="1E2924"/>
                </a:solidFill>
                <a:highlight>
                  <a:srgbClr val="FFE45C"/>
                </a:highlight>
                <a:latin typeface="Arial"/>
              </a:rPr>
              <a:t>[школа, класс]</a:t>
            </a:r>
          </a:p>
          <a:p>
            <a:pPr algn="ctr">
              <a:spcBef>
                <a:spcPts val="600"/>
              </a:spcBef>
            </a:pPr>
            <a:r>
              <a:rPr sz="1400" b="0" i="0">
                <a:solidFill>
                  <a:srgbClr val="1E2924"/>
                </a:solidFill>
                <a:highlight>
                  <a:srgbClr val="FFE45C"/>
                </a:highlight>
                <a:latin typeface="Arial"/>
              </a:rPr>
              <a:t>[роль в проекте]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691640"/>
            <a:ext cx="2103120" cy="3291840"/>
          </a:xfrm>
          <a:prstGeom prst="roundRect">
            <a:avLst>
              <a:gd name="adj" fmla="val 8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3383280" y="1920240"/>
            <a:ext cx="118872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A85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 i="0">
                <a:solidFill>
                  <a:srgbClr val="1E2924"/>
                </a:solidFill>
                <a:highlight>
                  <a:srgbClr val="FFE45C"/>
                </a:highlight>
                <a:latin typeface="Arial"/>
              </a:rPr>
              <a:t>[фото]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291840"/>
            <a:ext cx="1737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E2924"/>
                </a:solidFill>
                <a:highlight>
                  <a:srgbClr val="FFE45C"/>
                </a:highlight>
                <a:latin typeface="Arial"/>
              </a:rPr>
              <a:t>[ФИО]</a:t>
            </a:r>
          </a:p>
          <a:p>
            <a:pPr algn="ctr">
              <a:spcBef>
                <a:spcPts val="600"/>
              </a:spcBef>
            </a:pPr>
            <a:r>
              <a:rPr sz="1400" b="0" i="0">
                <a:solidFill>
                  <a:srgbClr val="1E2924"/>
                </a:solidFill>
                <a:highlight>
                  <a:srgbClr val="FFE45C"/>
                </a:highlight>
                <a:latin typeface="Arial"/>
              </a:rPr>
              <a:t>[школа, класс]</a:t>
            </a:r>
          </a:p>
          <a:p>
            <a:pPr algn="ctr">
              <a:spcBef>
                <a:spcPts val="600"/>
              </a:spcBef>
            </a:pPr>
            <a:r>
              <a:rPr sz="1400" b="0" i="0">
                <a:solidFill>
                  <a:srgbClr val="1E2924"/>
                </a:solidFill>
                <a:highlight>
                  <a:srgbClr val="FFE45C"/>
                </a:highlight>
                <a:latin typeface="Arial"/>
              </a:rPr>
              <a:t>[роль в проекте]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1691640"/>
            <a:ext cx="2103120" cy="3291840"/>
          </a:xfrm>
          <a:prstGeom prst="roundRect">
            <a:avLst>
              <a:gd name="adj" fmla="val 8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5760720" y="1920240"/>
            <a:ext cx="118872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A85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 i="0">
                <a:solidFill>
                  <a:srgbClr val="1E2924"/>
                </a:solidFill>
                <a:highlight>
                  <a:srgbClr val="FFE45C"/>
                </a:highlight>
                <a:latin typeface="Arial"/>
              </a:rPr>
              <a:t>[фото]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291840"/>
            <a:ext cx="1737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E2924"/>
                </a:solidFill>
                <a:highlight>
                  <a:srgbClr val="FFE45C"/>
                </a:highlight>
                <a:latin typeface="Arial"/>
              </a:rPr>
              <a:t>[ФИО]</a:t>
            </a:r>
          </a:p>
          <a:p>
            <a:pPr algn="ctr">
              <a:spcBef>
                <a:spcPts val="600"/>
              </a:spcBef>
            </a:pPr>
            <a:r>
              <a:rPr sz="1400" b="0" i="0">
                <a:solidFill>
                  <a:srgbClr val="1E2924"/>
                </a:solidFill>
                <a:highlight>
                  <a:srgbClr val="FFE45C"/>
                </a:highlight>
                <a:latin typeface="Arial"/>
              </a:rPr>
              <a:t>[школа, класс]</a:t>
            </a:r>
          </a:p>
          <a:p>
            <a:pPr algn="ctr">
              <a:spcBef>
                <a:spcPts val="600"/>
              </a:spcBef>
            </a:pPr>
            <a:r>
              <a:rPr sz="1400" b="0" i="0">
                <a:solidFill>
                  <a:srgbClr val="1E2924"/>
                </a:solidFill>
                <a:highlight>
                  <a:srgbClr val="FFE45C"/>
                </a:highlight>
                <a:latin typeface="Arial"/>
              </a:rPr>
              <a:t>[роль в проекте]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691640"/>
            <a:ext cx="3870655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5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874519"/>
            <a:ext cx="332201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A85B"/>
                </a:solidFill>
                <a:latin typeface="Arial"/>
              </a:rPr>
              <a:t>ИИ в проекте</a:t>
            </a:r>
          </a:p>
          <a:p>
            <a:pPr algn="l" marL="256032" indent="-256032">
              <a:spcBef>
                <a:spcPts val="800"/>
              </a:spcBef>
              <a:buClr>
                <a:srgbClr val="1FA85B"/>
              </a:buClr>
              <a:buFont typeface="Arial"/>
              <a:buChar char="•"/>
            </a:pPr>
            <a:r>
              <a:rPr sz="1600" b="0" i="0">
                <a:solidFill>
                  <a:srgbClr val="1E2924"/>
                </a:solidFill>
                <a:highlight>
                  <a:srgbClr val="FFE45C"/>
                </a:highlight>
                <a:latin typeface="Arial"/>
              </a:rPr>
              <a:t>[Инструмент]</a:t>
            </a:r>
            <a:r>
              <a:rPr sz="1600" b="0" i="0">
                <a:solidFill>
                  <a:srgbClr val="1E2924"/>
                </a:solidFill>
                <a:latin typeface="Arial"/>
              </a:rPr>
              <a:t> — </a:t>
            </a:r>
            <a:r>
              <a:rPr sz="1600" b="0" i="0">
                <a:solidFill>
                  <a:srgbClr val="1E2924"/>
                </a:solidFill>
                <a:highlight>
                  <a:srgbClr val="FFE45C"/>
                </a:highlight>
                <a:latin typeface="Arial"/>
              </a:rPr>
              <a:t>[для чего]</a:t>
            </a:r>
          </a:p>
          <a:p>
            <a:pPr algn="l" marL="256032" indent="-256032">
              <a:spcBef>
                <a:spcPts val="800"/>
              </a:spcBef>
              <a:buClr>
                <a:srgbClr val="1FA85B"/>
              </a:buClr>
              <a:buFont typeface="Arial"/>
              <a:buChar char="•"/>
            </a:pPr>
            <a:r>
              <a:rPr sz="1600" b="0" i="0">
                <a:solidFill>
                  <a:srgbClr val="1E2924"/>
                </a:solidFill>
                <a:highlight>
                  <a:srgbClr val="FFE45C"/>
                </a:highlight>
                <a:latin typeface="Arial"/>
              </a:rPr>
              <a:t>[Инструмент]</a:t>
            </a:r>
            <a:r>
              <a:rPr sz="1600" b="0" i="0">
                <a:solidFill>
                  <a:srgbClr val="1E2924"/>
                </a:solidFill>
                <a:latin typeface="Arial"/>
              </a:rPr>
              <a:t> — </a:t>
            </a:r>
            <a:r>
              <a:rPr sz="1600" b="0" i="0">
                <a:solidFill>
                  <a:srgbClr val="1E2924"/>
                </a:solidFill>
                <a:highlight>
                  <a:srgbClr val="FFE45C"/>
                </a:highlight>
                <a:latin typeface="Arial"/>
              </a:rPr>
              <a:t>[для чего]</a:t>
            </a:r>
          </a:p>
          <a:p>
            <a:pPr algn="l" marL="256032" indent="-256032">
              <a:spcBef>
                <a:spcPts val="800"/>
              </a:spcBef>
              <a:buClr>
                <a:srgbClr val="1FA85B"/>
              </a:buClr>
              <a:buFont typeface="Arial"/>
              <a:buChar char="•"/>
            </a:pPr>
            <a:r>
              <a:rPr sz="1600" b="0" i="0">
                <a:solidFill>
                  <a:srgbClr val="1E2924"/>
                </a:solidFill>
                <a:highlight>
                  <a:srgbClr val="FFE45C"/>
                </a:highlight>
                <a:latin typeface="Arial"/>
              </a:rPr>
              <a:t>[Инструмент]</a:t>
            </a:r>
            <a:r>
              <a:rPr sz="1600" b="0" i="0">
                <a:solidFill>
                  <a:srgbClr val="1E2924"/>
                </a:solidFill>
                <a:latin typeface="Arial"/>
              </a:rPr>
              <a:t> — </a:t>
            </a:r>
            <a:r>
              <a:rPr sz="1600" b="0" i="0">
                <a:solidFill>
                  <a:srgbClr val="1E2924"/>
                </a:solidFill>
                <a:highlight>
                  <a:srgbClr val="FFE45C"/>
                </a:highlight>
                <a:latin typeface="Arial"/>
              </a:rPr>
              <a:t>[для чего]</a:t>
            </a:r>
          </a:p>
          <a:p>
            <a:pPr algn="l">
              <a:spcBef>
                <a:spcPts val="1400"/>
              </a:spcBef>
            </a:pPr>
            <a:r>
              <a:rPr sz="1400" b="0" i="0">
                <a:solidFill>
                  <a:srgbClr val="5F6B66"/>
                </a:solidFill>
                <a:latin typeface="Arial"/>
              </a:rPr>
              <a:t>Промпты — в приложении П4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34924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FA85B"/>
                </a:solidFill>
                <a:latin typeface="Arial"/>
              </a:rPr>
              <a:t>Спасибо! Готовы ответить на вопросы.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F6B66"/>
                </a:solidFill>
                <a:latin typeface="Arial"/>
              </a:rPr>
              <a:t>П1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F6B66"/>
                </a:solidFill>
                <a:latin typeface="Arial"/>
              </a:rPr>
              <a:t>AeroFresh · кейс-чемпионат «Ключ»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A85B"/>
                </a:solidFill>
                <a:latin typeface="Arial"/>
              </a:rPr>
              <a:t>Приложение П1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924"/>
                </a:solidFill>
                <a:latin typeface="Arial"/>
              </a:rPr>
              <a:t>Путь клиента (CJM)</a:t>
            </a:r>
          </a:p>
        </p:txBody>
      </p:sp>
      <p:sp>
        <p:nvSpPr>
          <p:cNvPr id="6" name="Oval 5"/>
          <p:cNvSpPr/>
          <p:nvPr/>
        </p:nvSpPr>
        <p:spPr>
          <a:xfrm>
            <a:off x="1255745" y="1828800"/>
            <a:ext cx="548640" cy="548640"/>
          </a:xfrm>
          <a:prstGeom prst="ellipse">
            <a:avLst/>
          </a:prstGeom>
          <a:solidFill>
            <a:srgbClr val="1F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95825" y="2103120"/>
            <a:ext cx="1551371" cy="0"/>
          </a:xfrm>
          <a:prstGeom prst="line">
            <a:avLst/>
          </a:prstGeom>
          <a:ln w="25400">
            <a:solidFill>
              <a:srgbClr val="D5DD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48640" y="2651760"/>
            <a:ext cx="1962851" cy="2194560"/>
          </a:xfrm>
          <a:prstGeom prst="roundRect">
            <a:avLst>
              <a:gd name="adj" fmla="val 8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/>
          <a:lstStyle/>
          <a:p>
            <a:pPr algn="l"/>
            <a:r>
              <a:rPr sz="1600" b="0" i="0">
                <a:solidFill>
                  <a:srgbClr val="1E2924"/>
                </a:solidFill>
                <a:latin typeface="Arial"/>
              </a:rPr>
              <a:t>Менеджер находит испорченную клубнику слишком поздно</a:t>
            </a:r>
          </a:p>
        </p:txBody>
      </p:sp>
      <p:sp>
        <p:nvSpPr>
          <p:cNvPr id="9" name="Oval 8"/>
          <p:cNvSpPr/>
          <p:nvPr/>
        </p:nvSpPr>
        <p:spPr>
          <a:xfrm>
            <a:off x="3538636" y="1828800"/>
            <a:ext cx="548640" cy="548640"/>
          </a:xfrm>
          <a:prstGeom prst="ellipse">
            <a:avLst/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000" b="1" i="0">
                <a:solidFill>
                  <a:srgbClr val="1FA85B"/>
                </a:solidFill>
                <a:latin typeface="Arial"/>
              </a:rPr>
              <a:t>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78716" y="2103120"/>
            <a:ext cx="1551371" cy="0"/>
          </a:xfrm>
          <a:prstGeom prst="line">
            <a:avLst/>
          </a:prstGeom>
          <a:ln w="25400">
            <a:solidFill>
              <a:srgbClr val="D5DD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31531" y="2651760"/>
            <a:ext cx="1962851" cy="2194560"/>
          </a:xfrm>
          <a:prstGeom prst="roundRect">
            <a:avLst>
              <a:gd name="adj" fmla="val 8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/>
          <a:lstStyle/>
          <a:p>
            <a:pPr algn="l"/>
            <a:r>
              <a:rPr sz="1600" b="0" i="0">
                <a:solidFill>
                  <a:srgbClr val="1E2924"/>
                </a:solidFill>
                <a:latin typeface="Arial"/>
              </a:rPr>
              <a:t>Узнаёт об AeroFresh</a:t>
            </a:r>
          </a:p>
        </p:txBody>
      </p:sp>
      <p:sp>
        <p:nvSpPr>
          <p:cNvPr id="12" name="Oval 11"/>
          <p:cNvSpPr/>
          <p:nvPr/>
        </p:nvSpPr>
        <p:spPr>
          <a:xfrm>
            <a:off x="5821527" y="1828800"/>
            <a:ext cx="548640" cy="548640"/>
          </a:xfrm>
          <a:prstGeom prst="ellipse">
            <a:avLst/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000" b="1" i="0">
                <a:solidFill>
                  <a:srgbClr val="1FA85B"/>
                </a:solidFill>
                <a:latin typeface="Arial"/>
              </a:rP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61607" y="2103120"/>
            <a:ext cx="1551371" cy="0"/>
          </a:xfrm>
          <a:prstGeom prst="line">
            <a:avLst/>
          </a:prstGeom>
          <a:ln w="25400">
            <a:solidFill>
              <a:srgbClr val="D5DD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14422" y="2651760"/>
            <a:ext cx="1962851" cy="2194560"/>
          </a:xfrm>
          <a:prstGeom prst="roundRect">
            <a:avLst>
              <a:gd name="adj" fmla="val 8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/>
          <a:lstStyle/>
          <a:p>
            <a:pPr algn="l"/>
            <a:r>
              <a:rPr sz="1600" b="0" i="0">
                <a:solidFill>
                  <a:srgbClr val="1E2924"/>
                </a:solidFill>
                <a:latin typeface="Arial"/>
              </a:rPr>
              <a:t>При приёмке ставит датчики на ящики</a:t>
            </a:r>
          </a:p>
        </p:txBody>
      </p:sp>
      <p:sp>
        <p:nvSpPr>
          <p:cNvPr id="15" name="Oval 14"/>
          <p:cNvSpPr/>
          <p:nvPr/>
        </p:nvSpPr>
        <p:spPr>
          <a:xfrm>
            <a:off x="8104418" y="1828800"/>
            <a:ext cx="548640" cy="548640"/>
          </a:xfrm>
          <a:prstGeom prst="ellipse">
            <a:avLst/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000" b="1" i="0">
                <a:solidFill>
                  <a:srgbClr val="1FA85B"/>
                </a:solidFill>
                <a:latin typeface="Arial"/>
              </a:rPr>
              <a:t>4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44498" y="2103120"/>
            <a:ext cx="1551371" cy="0"/>
          </a:xfrm>
          <a:prstGeom prst="line">
            <a:avLst/>
          </a:prstGeom>
          <a:ln w="25400">
            <a:solidFill>
              <a:srgbClr val="D5DD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97313" y="2651760"/>
            <a:ext cx="1962851" cy="2194560"/>
          </a:xfrm>
          <a:prstGeom prst="roundRect">
            <a:avLst>
              <a:gd name="adj" fmla="val 8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/>
          <a:lstStyle/>
          <a:p>
            <a:pPr algn="l"/>
            <a:r>
              <a:rPr sz="1600" b="0" i="0">
                <a:solidFill>
                  <a:srgbClr val="1E2924"/>
                </a:solidFill>
                <a:latin typeface="Arial"/>
              </a:rPr>
              <a:t>Получает уведомление «осталось ~12 часов» и делает уценку</a:t>
            </a:r>
          </a:p>
        </p:txBody>
      </p:sp>
      <p:sp>
        <p:nvSpPr>
          <p:cNvPr id="18" name="Oval 17"/>
          <p:cNvSpPr/>
          <p:nvPr/>
        </p:nvSpPr>
        <p:spPr>
          <a:xfrm>
            <a:off x="10387309" y="1828800"/>
            <a:ext cx="548640" cy="548640"/>
          </a:xfrm>
          <a:prstGeom prst="ellipse">
            <a:avLst/>
          </a:prstGeom>
          <a:solidFill>
            <a:srgbClr val="1F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80204" y="2651760"/>
            <a:ext cx="1962851" cy="2194560"/>
          </a:xfrm>
          <a:prstGeom prst="roundRect">
            <a:avLst>
              <a:gd name="adj" fmla="val 8000"/>
            </a:avLst>
          </a:prstGeom>
          <a:solidFill>
            <a:srgbClr val="1F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/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Товар продан, списаний меньше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2120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5F6B66"/>
                </a:solidFill>
                <a:latin typeface="Arial"/>
              </a:rPr>
              <a:t>Точка боли — шаг 1; точка ценности — шаг 4: решение принимается за секунды.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F6B66"/>
                </a:solidFill>
                <a:latin typeface="Arial"/>
              </a:rPr>
              <a:t>П2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F6B66"/>
                </a:solidFill>
                <a:latin typeface="Arial"/>
              </a:rPr>
              <a:t>AeroFresh · кейс-чемпионат «Ключ»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A85B"/>
                </a:solidFill>
                <a:latin typeface="Arial"/>
              </a:rPr>
              <a:t>Приложение П2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924"/>
                </a:solidFill>
                <a:latin typeface="Arial"/>
              </a:rPr>
              <a:t>Расчёты и источники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94414" cy="41148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667575"/>
                <a:gridCol w="2200545"/>
                <a:gridCol w="5226294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Показатель</a:t>
                      </a:r>
                    </a:p>
                  </a:txBody>
                  <a:tcPr marL="109728" marR="109728" marT="36576" marB="36576" anchor="ctr">
                    <a:solidFill>
                      <a:srgbClr val="1FA8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Значение</a:t>
                      </a:r>
                    </a:p>
                  </a:txBody>
                  <a:tcPr marL="109728" marR="109728" marT="36576" marB="36576" anchor="ctr">
                    <a:solidFill>
                      <a:srgbClr val="1FA8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Источник / расчёт</a:t>
                      </a:r>
                    </a:p>
                  </a:txBody>
                  <a:tcPr marL="109728" marR="109728" marT="36576" marB="36576" anchor="ctr">
                    <a:solidFill>
                      <a:srgbClr val="1FA85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E2924"/>
                          </a:solidFill>
                          <a:latin typeface="Arial"/>
                        </a:rPr>
                        <a:t>Списания скоропорта в магазине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2924"/>
                          </a:solidFill>
                          <a:latin typeface="Arial"/>
                        </a:rPr>
                        <a:t>80 000 ₽/мес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[подтвердить интервью]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E2924"/>
                          </a:solidFill>
                          <a:latin typeface="Arial"/>
                        </a:rPr>
                        <a:t>Снижение списаний на 30%</a:t>
                      </a:r>
                    </a:p>
                  </a:txBody>
                  <a:tcPr marL="109728" marR="109728" marT="36576" marB="36576" anchor="ctr">
                    <a:solidFill>
                      <a:srgbClr val="E9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2924"/>
                          </a:solidFill>
                          <a:latin typeface="Arial"/>
                        </a:rPr>
                        <a:t>24 000 ₽/мес</a:t>
                      </a:r>
                    </a:p>
                  </a:txBody>
                  <a:tcPr marL="109728" marR="109728" marT="36576" marB="36576" anchor="ctr">
                    <a:solidFill>
                      <a:srgbClr val="E9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2924"/>
                          </a:solidFill>
                          <a:latin typeface="Arial"/>
                        </a:rPr>
                        <a:t>80 000 × 30%; цель теста</a:t>
                      </a:r>
                    </a:p>
                  </a:txBody>
                  <a:tcPr marL="109728" marR="109728" marT="36576" marB="36576" anchor="ctr">
                    <a:solidFill>
                      <a:srgbClr val="E9F7E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E2924"/>
                          </a:solidFill>
                          <a:latin typeface="Arial"/>
                        </a:rPr>
                        <a:t>Подписка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2924"/>
                          </a:solidFill>
                          <a:latin typeface="Arial"/>
                        </a:rPr>
                        <a:t>9 900 ₽/мес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2924"/>
                          </a:solidFill>
                          <a:latin typeface="Arial"/>
                        </a:rPr>
                        <a:t>Наша цена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E2924"/>
                          </a:solidFill>
                          <a:latin typeface="Arial"/>
                        </a:rPr>
                        <a:t>Чистая выгода клиента</a:t>
                      </a:r>
                    </a:p>
                  </a:txBody>
                  <a:tcPr marL="109728" marR="109728" marT="36576" marB="36576" anchor="ctr">
                    <a:solidFill>
                      <a:srgbClr val="E9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2924"/>
                          </a:solidFill>
                          <a:latin typeface="Arial"/>
                        </a:rPr>
                        <a:t>≈ 14 000 ₽/мес</a:t>
                      </a:r>
                    </a:p>
                  </a:txBody>
                  <a:tcPr marL="109728" marR="109728" marT="36576" marB="36576" anchor="ctr">
                    <a:solidFill>
                      <a:srgbClr val="E9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2924"/>
                          </a:solidFill>
                          <a:latin typeface="Arial"/>
                        </a:rPr>
                        <a:t>24 000 − 9 900</a:t>
                      </a:r>
                    </a:p>
                  </a:txBody>
                  <a:tcPr marL="109728" marR="109728" marT="36576" marB="36576" anchor="ctr">
                    <a:solidFill>
                      <a:srgbClr val="E9F7E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E2924"/>
                          </a:solidFill>
                          <a:latin typeface="Arial"/>
                        </a:rPr>
                        <a:t>Датчик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2924"/>
                          </a:solidFill>
                          <a:latin typeface="Arial"/>
                        </a:rPr>
                        <a:t>≈ 3 500 ₽/шт.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[смета комплектующих]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E2924"/>
                          </a:solidFill>
                          <a:latin typeface="Arial"/>
                        </a:rPr>
                        <a:t>10 датчиков на магазин</a:t>
                      </a:r>
                    </a:p>
                  </a:txBody>
                  <a:tcPr marL="109728" marR="109728" marT="36576" marB="36576" anchor="ctr">
                    <a:solidFill>
                      <a:srgbClr val="E9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2924"/>
                          </a:solidFill>
                          <a:latin typeface="Arial"/>
                        </a:rPr>
                        <a:t>35 000 ₽</a:t>
                      </a:r>
                    </a:p>
                  </a:txBody>
                  <a:tcPr marL="109728" marR="109728" marT="36576" marB="36576" anchor="ctr">
                    <a:solidFill>
                      <a:srgbClr val="E9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2924"/>
                          </a:solidFill>
                          <a:latin typeface="Arial"/>
                        </a:rPr>
                        <a:t>3 500 × 10</a:t>
                      </a:r>
                    </a:p>
                  </a:txBody>
                  <a:tcPr marL="109728" marR="109728" marT="36576" marB="36576" anchor="ctr">
                    <a:solidFill>
                      <a:srgbClr val="E9F7E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E2924"/>
                          </a:solidFill>
                          <a:latin typeface="Arial"/>
                        </a:rPr>
                        <a:t>Наши затраты на магазин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2924"/>
                          </a:solidFill>
                          <a:latin typeface="Arial"/>
                        </a:rPr>
                        <a:t>≈ 3 000 ₽/мес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2924"/>
                          </a:solidFill>
                          <a:latin typeface="Arial"/>
                        </a:rPr>
                        <a:t>Амортизация 1 500 + облако и поддержка 1 500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E2924"/>
                          </a:solidFill>
                          <a:latin typeface="Arial"/>
                        </a:rPr>
                        <a:t>Безубыточность</a:t>
                      </a:r>
                    </a:p>
                  </a:txBody>
                  <a:tcPr marL="109728" marR="109728" marT="36576" marB="36576" anchor="ctr">
                    <a:solidFill>
                      <a:srgbClr val="C9ECD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E2924"/>
                          </a:solidFill>
                          <a:latin typeface="Arial"/>
                        </a:rPr>
                        <a:t>≈ 22 магазина</a:t>
                      </a:r>
                    </a:p>
                  </a:txBody>
                  <a:tcPr marL="109728" marR="109728" marT="36576" marB="36576" anchor="ctr">
                    <a:solidFill>
                      <a:srgbClr val="C9ECD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E2924"/>
                          </a:solidFill>
                          <a:latin typeface="Arial"/>
                        </a:rPr>
                        <a:t>150 000 ÷ 6 900; постоянные расходы — допущение</a:t>
                      </a:r>
                    </a:p>
                  </a:txBody>
                  <a:tcPr marL="109728" marR="109728" marT="36576" marB="36576" anchor="ctr">
                    <a:solidFill>
                      <a:srgbClr val="C9ECD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F6B66"/>
                </a:solidFill>
                <a:latin typeface="Arial"/>
              </a:rPr>
              <a:t>П3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F6B66"/>
                </a:solidFill>
                <a:latin typeface="Arial"/>
              </a:rPr>
              <a:t>AeroFresh · кейс-чемпионат «Ключ»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A85B"/>
                </a:solidFill>
                <a:latin typeface="Arial"/>
              </a:rPr>
              <a:t>Приложение П3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924"/>
                </a:solidFill>
                <a:latin typeface="Arial"/>
              </a:rPr>
              <a:t>Технологии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2743200" cy="749808"/>
          </a:xfrm>
          <a:prstGeom prst="roundRect">
            <a:avLst>
              <a:gd name="adj" fmla="val 8000"/>
            </a:avLst>
          </a:prstGeom>
          <a:solidFill>
            <a:srgbClr val="1F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Сенсоры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91640"/>
            <a:ext cx="8168335" cy="749808"/>
          </a:xfrm>
          <a:prstGeom prst="roundRect">
            <a:avLst>
              <a:gd name="adj" fmla="val 8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/>
            <a:r>
              <a:rPr sz="1700" b="0" i="0">
                <a:solidFill>
                  <a:srgbClr val="1E2924"/>
                </a:solidFill>
                <a:latin typeface="Arial"/>
              </a:rPr>
              <a:t>CO₂ — SCD40 · летучие вещества — SGP40 · температура и влажность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51176"/>
            <a:ext cx="2743200" cy="749808"/>
          </a:xfrm>
          <a:prstGeom prst="roundRect">
            <a:avLst>
              <a:gd name="adj" fmla="val 8000"/>
            </a:avLst>
          </a:prstGeom>
          <a:solidFill>
            <a:srgbClr val="1F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Связь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551176"/>
            <a:ext cx="8168335" cy="749808"/>
          </a:xfrm>
          <a:prstGeom prst="roundRect">
            <a:avLst>
              <a:gd name="adj" fmla="val 8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/>
            <a:r>
              <a:rPr sz="1700" b="0" i="0">
                <a:solidFill>
                  <a:srgbClr val="1E2924"/>
                </a:solidFill>
                <a:latin typeface="Arial"/>
              </a:rPr>
              <a:t>Микроконтроллер ESP32 · Wi-Fi или SIM-модуль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410712"/>
            <a:ext cx="2743200" cy="749808"/>
          </a:xfrm>
          <a:prstGeom prst="roundRect">
            <a:avLst>
              <a:gd name="adj" fmla="val 8000"/>
            </a:avLst>
          </a:prstGeom>
          <a:solidFill>
            <a:srgbClr val="1F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Облако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3410712"/>
            <a:ext cx="8168335" cy="749808"/>
          </a:xfrm>
          <a:prstGeom prst="roundRect">
            <a:avLst>
              <a:gd name="adj" fmla="val 8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/>
            <a:r>
              <a:rPr sz="1700" b="0" i="0">
                <a:solidFill>
                  <a:srgbClr val="1E2924"/>
                </a:solidFill>
                <a:latin typeface="Arial"/>
              </a:rPr>
              <a:t>Yandex Cloud: хранение данных и расчёт прогноза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70248"/>
            <a:ext cx="2743200" cy="749808"/>
          </a:xfrm>
          <a:prstGeom prst="roundRect">
            <a:avLst>
              <a:gd name="adj" fmla="val 8000"/>
            </a:avLst>
          </a:prstGeom>
          <a:solidFill>
            <a:srgbClr val="1F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Интерфейс (MVP)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4270248"/>
            <a:ext cx="8168335" cy="749808"/>
          </a:xfrm>
          <a:prstGeom prst="roundRect">
            <a:avLst>
              <a:gd name="adj" fmla="val 8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/>
            <a:r>
              <a:rPr sz="1700" b="0" i="0">
                <a:solidFill>
                  <a:srgbClr val="1E2924"/>
                </a:solidFill>
                <a:latin typeface="Arial"/>
              </a:rPr>
              <a:t>Telegram-бот для менеджера зала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129784"/>
            <a:ext cx="2743200" cy="749808"/>
          </a:xfrm>
          <a:prstGeom prst="roundRect">
            <a:avLst>
              <a:gd name="adj" fmla="val 8000"/>
            </a:avLst>
          </a:prstGeom>
          <a:solidFill>
            <a:srgbClr val="1FA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Прогноз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5129784"/>
            <a:ext cx="8168335" cy="749808"/>
          </a:xfrm>
          <a:prstGeom prst="roundRect">
            <a:avLst>
              <a:gd name="adj" fmla="val 8000"/>
            </a:avLst>
          </a:prstGeom>
          <a:solidFill>
            <a:srgbClr val="E9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l"/>
            <a:r>
              <a:rPr sz="1700" b="0" i="0">
                <a:solidFill>
                  <a:srgbClr val="1E2924"/>
                </a:solidFill>
                <a:latin typeface="Arial"/>
              </a:rPr>
              <a:t>Сначала пороговые правила → затем модель на временных рядах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F6B66"/>
                </a:solidFill>
                <a:latin typeface="Arial"/>
              </a:rPr>
              <a:t>П4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F6B66"/>
                </a:solidFill>
                <a:latin typeface="Arial"/>
              </a:rPr>
              <a:t>AeroFresh · кейс-чемпионат «Ключ»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A85B"/>
                </a:solidFill>
                <a:latin typeface="Arial"/>
              </a:rPr>
              <a:t>Приложение П4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924"/>
                </a:solidFill>
                <a:latin typeface="Arial"/>
              </a:rPr>
              <a:t>Как мы использовали ИИ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94413" cy="41148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017166"/>
                <a:gridCol w="2567302"/>
                <a:gridCol w="3942643"/>
                <a:gridCol w="2567302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Инструмент</a:t>
                      </a:r>
                    </a:p>
                  </a:txBody>
                  <a:tcPr marL="109728" marR="109728" marT="36576" marB="36576" anchor="ctr">
                    <a:solidFill>
                      <a:srgbClr val="1FA8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Задача</a:t>
                      </a:r>
                    </a:p>
                  </a:txBody>
                  <a:tcPr marL="109728" marR="109728" marT="36576" marB="36576" anchor="ctr">
                    <a:solidFill>
                      <a:srgbClr val="1FA8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Промпт</a:t>
                      </a:r>
                    </a:p>
                  </a:txBody>
                  <a:tcPr marL="109728" marR="109728" marT="36576" marB="36576" anchor="ctr">
                    <a:solidFill>
                      <a:srgbClr val="1FA8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Что использовали</a:t>
                      </a:r>
                    </a:p>
                  </a:txBody>
                  <a:tcPr marL="109728" marR="109728" marT="36576" marB="36576" anchor="ctr">
                    <a:solidFill>
                      <a:srgbClr val="1FA85B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[заполнить]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[заполнить]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[заполнить]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[заполнить]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[заполнить]</a:t>
                      </a:r>
                    </a:p>
                  </a:txBody>
                  <a:tcPr marL="109728" marR="109728" marT="36576" marB="36576" anchor="ctr">
                    <a:solidFill>
                      <a:srgbClr val="E9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[заполнить]</a:t>
                      </a:r>
                    </a:p>
                  </a:txBody>
                  <a:tcPr marL="109728" marR="109728" marT="36576" marB="36576" anchor="ctr">
                    <a:solidFill>
                      <a:srgbClr val="E9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[заполнить]</a:t>
                      </a:r>
                    </a:p>
                  </a:txBody>
                  <a:tcPr marL="109728" marR="109728" marT="36576" marB="36576" anchor="ctr">
                    <a:solidFill>
                      <a:srgbClr val="E9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[заполнить]</a:t>
                      </a:r>
                    </a:p>
                  </a:txBody>
                  <a:tcPr marL="109728" marR="109728" marT="36576" marB="36576" anchor="ctr">
                    <a:solidFill>
                      <a:srgbClr val="E9F7E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[заполнить]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[заполнить]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[заполнить]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[заполнить]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[заполнить]</a:t>
                      </a:r>
                    </a:p>
                  </a:txBody>
                  <a:tcPr marL="109728" marR="109728" marT="36576" marB="36576" anchor="ctr">
                    <a:solidFill>
                      <a:srgbClr val="E9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[заполнить]</a:t>
                      </a:r>
                    </a:p>
                  </a:txBody>
                  <a:tcPr marL="109728" marR="109728" marT="36576" marB="36576" anchor="ctr">
                    <a:solidFill>
                      <a:srgbClr val="E9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[заполнить]</a:t>
                      </a:r>
                    </a:p>
                  </a:txBody>
                  <a:tcPr marL="109728" marR="109728" marT="36576" marB="36576" anchor="ctr">
                    <a:solidFill>
                      <a:srgbClr val="E9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[заполнить]</a:t>
                      </a:r>
                    </a:p>
                  </a:txBody>
                  <a:tcPr marL="109728" marR="109728" marT="36576" marB="36576" anchor="ctr">
                    <a:solidFill>
                      <a:srgbClr val="E9F7E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[заполнить]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[заполнить]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[заполнить]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[заполнить]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71455" y="64465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5F6B66"/>
                </a:solidFill>
                <a:latin typeface="Arial"/>
              </a:rPr>
              <a:t>П5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F6B66"/>
                </a:solidFill>
                <a:latin typeface="Arial"/>
              </a:rPr>
              <a:t>AeroFresh · кейс-чемпионат «Ключ»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A85B"/>
                </a:solidFill>
                <a:latin typeface="Arial"/>
              </a:rPr>
              <a:t>Приложение П5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924"/>
                </a:solidFill>
                <a:latin typeface="Arial"/>
              </a:rPr>
              <a:t>Интервью: 15 респондентов, из них 3+ практика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11094414" cy="4462272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550136"/>
                <a:gridCol w="2750681"/>
                <a:gridCol w="5134605"/>
                <a:gridCol w="2658992"/>
              </a:tblGrid>
              <a:tr h="278892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№</a:t>
                      </a:r>
                    </a:p>
                  </a:txBody>
                  <a:tcPr marL="109728" marR="109728" marT="36576" marB="36576" anchor="ctr">
                    <a:solidFill>
                      <a:srgbClr val="1FA8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Роль</a:t>
                      </a:r>
                    </a:p>
                  </a:txBody>
                  <a:tcPr marL="109728" marR="109728" marT="36576" marB="36576" anchor="ctr">
                    <a:solidFill>
                      <a:srgbClr val="1FA8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Главная мысль</a:t>
                      </a:r>
                    </a:p>
                  </a:txBody>
                  <a:tcPr marL="109728" marR="109728" marT="36576" marB="36576" anchor="ctr">
                    <a:solidFill>
                      <a:srgbClr val="1FA8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Подтвердило / опровергло</a:t>
                      </a:r>
                    </a:p>
                  </a:txBody>
                  <a:tcPr marL="109728" marR="109728" marT="36576" marB="36576" anchor="ctr">
                    <a:solidFill>
                      <a:srgbClr val="1FA85B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24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[практик: роль]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[главная мысль]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[подтв. / опроверг.]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24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09728" marR="109728" marT="36576" marB="36576" anchor="ctr">
                    <a:solidFill>
                      <a:srgbClr val="E9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[практик: роль]</a:t>
                      </a:r>
                    </a:p>
                  </a:txBody>
                  <a:tcPr marL="109728" marR="109728" marT="36576" marB="36576" anchor="ctr">
                    <a:solidFill>
                      <a:srgbClr val="E9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[главная мысль]</a:t>
                      </a:r>
                    </a:p>
                  </a:txBody>
                  <a:tcPr marL="109728" marR="109728" marT="36576" marB="36576" anchor="ctr">
                    <a:solidFill>
                      <a:srgbClr val="E9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[подтв. / опроверг.]</a:t>
                      </a:r>
                    </a:p>
                  </a:txBody>
                  <a:tcPr marL="109728" marR="109728" marT="36576" marB="36576" anchor="ctr">
                    <a:solidFill>
                      <a:srgbClr val="E9F7E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24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[практик: роль]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[главная мысль]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[подтв. / опроверг.]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24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09728" marR="109728" marT="36576" marB="36576" anchor="ctr">
                    <a:solidFill>
                      <a:srgbClr val="E9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[роль]</a:t>
                      </a:r>
                    </a:p>
                  </a:txBody>
                  <a:tcPr marL="109728" marR="109728" marT="36576" marB="36576" anchor="ctr">
                    <a:solidFill>
                      <a:srgbClr val="E9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[главная мысль]</a:t>
                      </a:r>
                    </a:p>
                  </a:txBody>
                  <a:tcPr marL="109728" marR="109728" marT="36576" marB="36576" anchor="ctr">
                    <a:solidFill>
                      <a:srgbClr val="E9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[подтв. / опроверг.]</a:t>
                      </a:r>
                    </a:p>
                  </a:txBody>
                  <a:tcPr marL="109728" marR="109728" marT="36576" marB="36576" anchor="ctr">
                    <a:solidFill>
                      <a:srgbClr val="E9F7E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24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[роль]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[главная мысль]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[подтв. / опроверг.]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24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109728" marR="109728" marT="36576" marB="36576" anchor="ctr">
                    <a:solidFill>
                      <a:srgbClr val="E9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[роль]</a:t>
                      </a:r>
                    </a:p>
                  </a:txBody>
                  <a:tcPr marL="109728" marR="109728" marT="36576" marB="36576" anchor="ctr">
                    <a:solidFill>
                      <a:srgbClr val="E9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[главная мысль]</a:t>
                      </a:r>
                    </a:p>
                  </a:txBody>
                  <a:tcPr marL="109728" marR="109728" marT="36576" marB="36576" anchor="ctr">
                    <a:solidFill>
                      <a:srgbClr val="E9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[подтв. / опроверг.]</a:t>
                      </a:r>
                    </a:p>
                  </a:txBody>
                  <a:tcPr marL="109728" marR="109728" marT="36576" marB="36576" anchor="ctr">
                    <a:solidFill>
                      <a:srgbClr val="E9F7E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24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[роль]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[главная мысль]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[подтв. / опроверг.]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24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09728" marR="109728" marT="36576" marB="36576" anchor="ctr">
                    <a:solidFill>
                      <a:srgbClr val="E9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[роль]</a:t>
                      </a:r>
                    </a:p>
                  </a:txBody>
                  <a:tcPr marL="109728" marR="109728" marT="36576" marB="36576" anchor="ctr">
                    <a:solidFill>
                      <a:srgbClr val="E9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[главная мысль]</a:t>
                      </a:r>
                    </a:p>
                  </a:txBody>
                  <a:tcPr marL="109728" marR="109728" marT="36576" marB="36576" anchor="ctr">
                    <a:solidFill>
                      <a:srgbClr val="E9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[подтв. / опроверг.]</a:t>
                      </a:r>
                    </a:p>
                  </a:txBody>
                  <a:tcPr marL="109728" marR="109728" marT="36576" marB="36576" anchor="ctr">
                    <a:solidFill>
                      <a:srgbClr val="E9F7E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24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[роль]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[главная мысль]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[подтв. / опроверг.]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24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109728" marR="109728" marT="36576" marB="36576" anchor="ctr">
                    <a:solidFill>
                      <a:srgbClr val="E9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[роль]</a:t>
                      </a:r>
                    </a:p>
                  </a:txBody>
                  <a:tcPr marL="109728" marR="109728" marT="36576" marB="36576" anchor="ctr">
                    <a:solidFill>
                      <a:srgbClr val="E9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[главная мысль]</a:t>
                      </a:r>
                    </a:p>
                  </a:txBody>
                  <a:tcPr marL="109728" marR="109728" marT="36576" marB="36576" anchor="ctr">
                    <a:solidFill>
                      <a:srgbClr val="E9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[подтв. / опроверг.]</a:t>
                      </a:r>
                    </a:p>
                  </a:txBody>
                  <a:tcPr marL="109728" marR="109728" marT="36576" marB="36576" anchor="ctr">
                    <a:solidFill>
                      <a:srgbClr val="E9F7E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24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[роль]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[главная мысль]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[подтв. / опроверг.]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24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109728" marR="109728" marT="36576" marB="36576" anchor="ctr">
                    <a:solidFill>
                      <a:srgbClr val="E9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[роль]</a:t>
                      </a:r>
                    </a:p>
                  </a:txBody>
                  <a:tcPr marL="109728" marR="109728" marT="36576" marB="36576" anchor="ctr">
                    <a:solidFill>
                      <a:srgbClr val="E9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[главная мысль]</a:t>
                      </a:r>
                    </a:p>
                  </a:txBody>
                  <a:tcPr marL="109728" marR="109728" marT="36576" marB="36576" anchor="ctr">
                    <a:solidFill>
                      <a:srgbClr val="E9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[подтв. / опроверг.]</a:t>
                      </a:r>
                    </a:p>
                  </a:txBody>
                  <a:tcPr marL="109728" marR="109728" marT="36576" marB="36576" anchor="ctr">
                    <a:solidFill>
                      <a:srgbClr val="E9F7E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24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[роль]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[главная мысль]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[подтв. / опроверг.]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24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109728" marR="109728" marT="36576" marB="36576" anchor="ctr">
                    <a:solidFill>
                      <a:srgbClr val="E9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[роль]</a:t>
                      </a:r>
                    </a:p>
                  </a:txBody>
                  <a:tcPr marL="109728" marR="109728" marT="36576" marB="36576" anchor="ctr">
                    <a:solidFill>
                      <a:srgbClr val="E9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[главная мысль]</a:t>
                      </a:r>
                    </a:p>
                  </a:txBody>
                  <a:tcPr marL="109728" marR="109728" marT="36576" marB="36576" anchor="ctr">
                    <a:solidFill>
                      <a:srgbClr val="E9F7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[подтв. / опроверг.]</a:t>
                      </a:r>
                    </a:p>
                  </a:txBody>
                  <a:tcPr marL="109728" marR="109728" marT="36576" marB="36576" anchor="ctr">
                    <a:solidFill>
                      <a:srgbClr val="E9F7E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24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[роль]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[главная мысль]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24"/>
                          </a:solidFill>
                          <a:highlight>
                            <a:srgbClr val="FFE45C"/>
                          </a:highlight>
                          <a:latin typeface="Arial"/>
                        </a:rPr>
                        <a:t>[подтв. / опроверг.]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